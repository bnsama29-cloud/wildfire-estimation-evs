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1" r:id="rId20"/>
    <p:sldId id="272" r:id="rId21"/>
    <p:sldId id="267" r:id="rId11"/>
    <p:sldId id="268" r:id="rId12"/>
    <p:sldId id="269" r:id="rId13"/>
    <p:sldId id="270" r:id="rId14"/>
  </p:sldIdLst>
  <p:sldSz cx="12192000" cy="6858000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96805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9202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8940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9582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5480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1832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174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8255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8138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2669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7140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551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155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7746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/>
          <p:nvPr/>
        </p:nvSpPr>
        <p:spPr>
          <a:xfrm>
            <a:off x="5055596" y="6405140"/>
            <a:ext cx="2080806" cy="2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1" u="none" strike="noStrike" cap="non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1400" b="1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18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ookman Old Style"/>
              <a:buNone/>
              <a:defRPr sz="60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sz="24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19"/>
          <p:cNvSpPr txBox="1"/>
          <p:nvPr/>
        </p:nvSpPr>
        <p:spPr>
          <a:xfrm>
            <a:off x="4541263" y="6344368"/>
            <a:ext cx="3498933" cy="3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1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2400"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" name="Google Shape;27;p19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268942" y="1258282"/>
            <a:ext cx="5750859" cy="491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172202" y="1258280"/>
            <a:ext cx="5795682" cy="491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26894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92246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3" name="Google Shape;33;p20"/>
          <p:cNvGrpSpPr/>
          <p:nvPr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34" name="Google Shape;34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36" name="Google Shape;36;p20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Bookman Old Style"/>
              <a:buNone/>
              <a:defRPr sz="5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" name="Google Shape;43;p21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44" name="Google Shape;44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2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48" name="Google Shape;48;p22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22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50" name="Google Shape;50;p22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2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4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0" name="Google Shape;60;p22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61" name="Google Shape;61;p22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70" name="Google Shape;70;p23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23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3" name="Google Shape;73;p23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3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80" name="Google Shape;80;p24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81" name="Google Shape;81;p24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4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83" name="Google Shape;83;p24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4" name="Google Shape;84;p24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4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5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89" name="Google Shape;89;p25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25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25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5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9" name="Google Shape;99;p25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00" name="Google Shape;100;p25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5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>
            <a:spLocks noGrp="1"/>
          </p:cNvSpPr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8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127" name="Google Shape;127;p1" descr="A building with a roof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1879" y="1067010"/>
            <a:ext cx="11421075" cy="389408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8" name="Google Shape;128;p1"/>
          <p:cNvSpPr/>
          <p:nvPr/>
        </p:nvSpPr>
        <p:spPr>
          <a:xfrm>
            <a:off x="349046" y="4146929"/>
            <a:ext cx="11493908" cy="1004814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Title: Early Wildfire Detection and Analysis using Machine Learning</a:t>
            </a:r>
            <a:endParaRPr dirty="0"/>
          </a:p>
        </p:txBody>
      </p:sp>
      <p:sp>
        <p:nvSpPr>
          <p:cNvPr id="129" name="Google Shape;129;p1"/>
          <p:cNvSpPr/>
          <p:nvPr/>
        </p:nvSpPr>
        <p:spPr>
          <a:xfrm>
            <a:off x="349045" y="5288583"/>
            <a:ext cx="11421075" cy="1004814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Theme: Satellite fire data + weather for fire intensity estimation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2339498" y="178833"/>
            <a:ext cx="8551282" cy="6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2182762" y="89747"/>
            <a:ext cx="8151863" cy="13199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/>
          </a:p>
        </p:txBody>
      </p:sp>
      <p:sp>
        <p:nvSpPr>
          <p:cNvPr id="145" name="Google Shape;145;p4"/>
          <p:cNvSpPr txBox="1">
            <a:spLocks noGrp="1"/>
          </p:cNvSpPr>
          <p:nvPr>
            <p:ph type="body" idx="1"/>
          </p:nvPr>
        </p:nvSpPr>
        <p:spPr>
          <a:xfrm>
            <a:off x="575733" y="1666874"/>
            <a:ext cx="11441457" cy="451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Introduction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Literature Review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Problem Definition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Objectives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Methodology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Proposed Outcomes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Timeline of the project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SDG Alignment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Conclusion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6900000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800" b="1"/>
              <a:t>Overview: </a:t>
            </a:r>
            <a:r>
              <a:rPr lang="en-IN" sz="1800" b="0"/>
              <a:t>Wildfires damage forests, air quality and livelihoods. NASA satellites (MODIS, VIIRS) detect active fires and report Fire Radiative Power (FRP, in MW), a proxy for fire intensity.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800" b="1"/>
              <a:t>Why it matters: </a:t>
            </a:r>
            <a:r>
              <a:rPr lang="en-IN" sz="1800" b="0"/>
              <a:t>India records a very large number of satellite-detected fires every year, mostly in the dry season. [Add one cited statistic here]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800" b="1"/>
              <a:t>Gap: </a:t>
            </a:r>
            <a:r>
              <a:rPr lang="en-IN" sz="1800" b="0"/>
              <a:t>Fire detections and weather data are public but separate and hard for non-experts to use together.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800" b="1"/>
              <a:t>This project: </a:t>
            </a:r>
            <a:r>
              <a:rPr lang="en-IN" sz="1800" b="0"/>
              <a:t>Join Indian fire detections with daily weather, train an ML model to estimate FRP, and present it in an interactive dashboard.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800" b="1"/>
              <a:t>Note: </a:t>
            </a:r>
            <a:r>
              <a:rPr lang="en-IN" sz="1800" b="0"/>
              <a:t>Educational prototype, not an official forecast. FRP is not burned area.</a:t>
            </a:r>
            <a:endParaRPr/>
          </a:p>
        </p:txBody>
      </p:sp>
      <p:sp>
        <p:nvSpPr>
          <p:cNvPr id="152" name="Google Shape;152;p5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2A421-8EF3-C47B-4D70-525531DE3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966" y="1258281"/>
            <a:ext cx="4791221" cy="4791221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7225966" y="6040000"/>
            <a:ext cx="4791221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262626"/>
                </a:solidFill>
              </a:rPr>
              <a:t>Fig. 1: VIIRS satellite detects fire hotspots over India; each carries an FRP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</a:t>
            </a:r>
            <a:endParaRPr/>
          </a:p>
        </p:txBody>
      </p:sp>
      <p:graphicFrame>
        <p:nvGraphicFramePr>
          <p:cNvPr id="162" name="Table 161"/>
          <p:cNvGraphicFramePr>
            <a:graphicFrameLocks noGrp="1"/>
          </p:cNvGraphicFramePr>
          <p:nvPr/>
        </p:nvGraphicFramePr>
        <p:xfrm>
          <a:off x="250000" y="1200000"/>
          <a:ext cx="11700000" cy="3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900000"/>
                <a:gridCol w="3500000"/>
                <a:gridCol w="33000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Study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Focus / Method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Relevance to this project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Giglio et al. (2016)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MODIS Collection 6 active fire detection algorithm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Improved detection and fewer false alarms; reports FRP per fire pixel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Defines the MODIS fire points and FRP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Schroeder et al. (2014)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VIIRS 375 m active fire product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Finer resolution than MODIS; better at small, low-intensity fires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Source of our VIIRS (NOAA-20, Suomi NPP) detections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Wooster et al. (2005)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Fire radiative energy from satellite FRP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FRP and its time integral relate to biomass burned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Justifies FRP as an intensity proxy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Jain et al. (2020)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Review of ML in wildfire science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ML is widely used; most work targets occurrence, susceptibility and spread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Shows the gap: intensity estimation is less covered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Breiman (2001)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Random forest algorithm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Ensemble of trees; robust, does not overfit as trees are added, gives variable importance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Our regression model and feature importance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" name="TextBox 162"/>
          <p:cNvSpPr txBox="1"/>
          <p:nvPr/>
        </p:nvSpPr>
        <p:spPr>
          <a:xfrm>
            <a:off x="250000" y="5000000"/>
            <a:ext cx="117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0">
                <a:solidFill>
                  <a:srgbClr val="002060"/>
                </a:solidFill>
              </a:rPr>
              <a:t>Trend: shift from threshold rules to ML that combines satellite data with weather.   Framework: supervised regression, weather features to log(1+FRP).   Gap: few open, interactive tools estimate fire intensity for India from weather.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body" idx="1"/>
          </p:nvPr>
        </p:nvSpPr>
        <p:spPr>
          <a:xfrm>
            <a:off x="174813" y="1076325"/>
            <a:ext cx="11842377" cy="56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Problem: </a:t>
            </a:r>
            <a:r>
              <a:rPr lang="en-IN" sz="2000" b="0"/>
              <a:t>Satellite fire data and weather data exist separately. There is no simple open tool that links them to show how weather conditions relate to fire intensity in India.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Context: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800" b="0"/>
              <a:t>India has varied climate zones and distinct fire seasons.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800" b="0"/>
              <a:t>FIRMS data is free but raw, and needs joining and cleaning before it is useful.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Significance: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800" b="0"/>
              <a:t>Without such a tool, the link between weather and fire intensity stays unexplored for students and the public.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800" b="0"/>
              <a:t>Gap: no reproducible pipeline from raw detections to an easy-to-read intensity estimate.</a:t>
            </a:r>
            <a:endParaRPr/>
          </a:p>
        </p:txBody>
      </p:sp>
      <p:sp>
        <p:nvSpPr>
          <p:cNvPr id="168" name="Google Shape;168;p7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1503705" y="0"/>
            <a:ext cx="10227733" cy="107632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Definition</a:t>
            </a:r>
            <a:endParaRPr sz="36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body" idx="1"/>
          </p:nvPr>
        </p:nvSpPr>
        <p:spPr>
          <a:xfrm>
            <a:off x="342900" y="1258282"/>
            <a:ext cx="11496675" cy="545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Main objective: </a:t>
            </a:r>
            <a:r>
              <a:rPr lang="en-IN" sz="2000" b="0"/>
              <a:t>Build an ML-based dashboard that estimates wildfire intensity (FRP) over India from satellite and weather data.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Specific objectives: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800" b="0"/>
              <a:t>Collect NASA FIRMS fire detections for India and join them with Open-Meteo weather data.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800" b="0"/>
              <a:t>Compare Random Forest and XGBoost models to predict FRP and report the error (MAE).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800" b="0"/>
              <a:t>Build a Streamlit dashboard with a map, input sliders and a risk band.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800" b="0"/>
              <a:t>Build an ESP32 + DHT22 + MQ-135 sensor unit and show its live readings in the dashboard (software and ML first, then hardware).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Contribution: </a:t>
            </a:r>
            <a:r>
              <a:rPr lang="en-IN" sz="2000" b="0"/>
              <a:t>An open, reproducible pipeline and dashboard that runs offline once data is cached.</a:t>
            </a:r>
            <a:endParaRPr dirty="0"/>
          </a:p>
        </p:txBody>
      </p:sp>
      <p:sp>
        <p:nvSpPr>
          <p:cNvPr id="176" name="Google Shape;176;p8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2191229" y="0"/>
            <a:ext cx="8146571" cy="103293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174811" y="1069220"/>
            <a:ext cx="11842377" cy="52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900" b="1"/>
              <a:t>Design: </a:t>
            </a:r>
            <a:r>
              <a:rPr lang="en-IN" sz="1900" b="0"/>
              <a:t>Quantitative, supervised ML plus an IoT sensor unit.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900" b="1"/>
              <a:t>Data collection: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/>
              <a:t>NASA FIRMS VIIRS fire points for India (lat 8-35, lon 68-97): lat, lon, date, FRP, confidence, brightness.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/>
              <a:t>Open-Meteo Historical API: temperature, humidity, wind and 7-day rain per fire date and location (cached).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/>
              <a:t>Live: ESP32 + DHT22 + MQ-135 send TEMP,HUMIDITY,SMOKE over USB serial.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900" b="1"/>
              <a:t>Data analysis: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/>
              <a:t>Clean and join; train on 2024, test on 2025; XGBoost on log(1+FRP); report MAE and R2; feature importance.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900" b="1"/>
              <a:t>Tools: </a:t>
            </a:r>
            <a:r>
              <a:rPr lang="en-IN" sz="1900" b="0"/>
              <a:t>Python, pandas, scikit-learn, XGBoost, Streamlit, GitHub, Arduino/PlatformIO.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900" b="1"/>
              <a:t>Note: </a:t>
            </a:r>
            <a:r>
              <a:rPr lang="en-IN" sz="1900" b="0"/>
              <a:t>FRP is a satellite intensity proxy, not burned area in hectares.</a:t>
            </a:r>
            <a:endParaRPr dirty="0"/>
          </a:p>
        </p:txBody>
      </p:sp>
      <p:sp>
        <p:nvSpPr>
          <p:cNvPr id="184" name="Google Shape;184;p9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>
            <a:spLocks noGrp="1"/>
          </p:cNvSpPr>
          <p:nvPr>
            <p:ph type="body" idx="1"/>
          </p:nvPr>
        </p:nvSpPr>
        <p:spPr>
          <a:xfrm>
            <a:off x="174811" y="1069220"/>
            <a:ext cx="11842377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600" b="1"/>
              <a:t>Fig. 2: System architecture - ML pipeline, ESP32 sensor unit and Streamlit dashboard</a:t>
            </a:r>
            <a:endParaRPr dirty="0"/>
          </a:p>
        </p:txBody>
      </p:sp>
      <p:sp>
        <p:nvSpPr>
          <p:cNvPr id="192" name="Google Shape;192;p10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C560B1-E4F3-B0DD-98A9-FD43BC23C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91" y="1572529"/>
            <a:ext cx="9143903" cy="4774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body" idx="1"/>
          </p:nvPr>
        </p:nvSpPr>
        <p:spPr>
          <a:xfrm>
            <a:off x="247650" y="1117600"/>
            <a:ext cx="3466511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800" b="1" dirty="0"/>
              <a:t>Expected results: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 dirty="0"/>
              <a:t>Joined India fire + weather dataset.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 dirty="0"/>
              <a:t>Trained model: MAE 4.01 MW vs 4.72 MW for a median guess.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 dirty="0"/>
              <a:t>Working dashboard: map, sliders, predicted FRP/risk band.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800" b="1" dirty="0"/>
              <a:t>Potential impact: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 dirty="0"/>
              <a:t>Easy way to explore how weather relates to fire intensity.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800" b="1" dirty="0"/>
              <a:t>Future directions: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1600" b="0" dirty="0"/>
              <a:t>State filters, vegetation/terrain data, other models, real-time alerts.</a:t>
            </a:r>
            <a:endParaRPr dirty="0"/>
          </a:p>
        </p:txBody>
      </p:sp>
      <p:sp>
        <p:nvSpPr>
          <p:cNvPr id="200" name="Google Shape;200;p11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Proposed Outcomes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96A48-914B-25BD-42A1-3867F4701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934" y="947917"/>
            <a:ext cx="7779071" cy="4373401"/>
          </a:xfrm>
          <a:prstGeom prst="rect">
            <a:avLst/>
          </a:prstGeom>
        </p:spPr>
      </p:pic>
      <p:sp>
        <p:nvSpPr>
          <p:cNvPr id="202" name="TextBox 201"/>
          <p:cNvSpPr txBox="1"/>
          <p:nvPr/>
        </p:nvSpPr>
        <p:spPr>
          <a:xfrm>
            <a:off x="3617934" y="5360000"/>
            <a:ext cx="7779071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62626"/>
                </a:solidFill>
              </a:rPr>
              <a:t>Fig. 3: Dashboard layout. Left: weather sliders and live ESP32 panel. Centre: fire map. Right: predicted FRP, risk band and feature importance. Bottom: sample fire points with weather.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>
            <a:spLocks noGrp="1"/>
          </p:cNvSpPr>
          <p:nvPr>
            <p:ph type="body" idx="1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Summary: </a:t>
            </a:r>
            <a:r>
              <a:rPr lang="en-IN" sz="2200" b="0"/>
              <a:t>We link satellite fire detections with weather to estimate fire intensity and present it in an interactive dashboard.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Final thoughts: </a:t>
            </a:r>
            <a:r>
              <a:rPr lang="en-IN" sz="2200" b="0"/>
              <a:t>Open data and simple ML make fire patterns easier to understand.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Next steps: </a:t>
            </a:r>
            <a:r>
              <a:rPr lang="en-IN" sz="2200" b="0"/>
              <a:t>Test the live Wokwi link, build the real ESP32 sensor unit and draft a conference paper.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218" name="Google Shape;218;p13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389467" y="1117600"/>
            <a:ext cx="11192933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500" b="0"/>
              <a:t>Breiman, L. (2001). Random forests. Machine Learning, 45(1), 5-32.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500" b="0"/>
              <a:t>Giglio, L., Schroeder, W., &amp; Justice, C. O. (2016). The collection 6 MODIS active fire detection algorithm and fire products. Remote Sensing of Environment, 178, 31-41.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500" b="0"/>
              <a:t>Jain, P., et al. (2020). A review of machine learning applications in wildfire science and management. Environmental Reviews, 28(4), 478-505.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500" b="0"/>
              <a:t>Schroeder, W., et al. (2014). The new VIIRS 375 m active fire detection data product. Remote Sensing of Environment, 143, 85-96.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500" b="0"/>
              <a:t>Wooster, M. J., et al. (2005). Retrieval of biomass combustion rates and totals from fire radiative power observations. Journal of Geophysical Research, 110, D24311.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500" b="0"/>
              <a:t>NASA FIRMS. https://firms.modaps.eosdis.nasa.gov/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1500" b="0"/>
              <a:t>Open-Meteo Historical Weather API. https://open-meteo.com/</a:t>
            </a:r>
            <a:endParaRPr/>
          </a:p>
        </p:txBody>
      </p:sp>
      <p:sp>
        <p:nvSpPr>
          <p:cNvPr id="226" name="Google Shape;226;p14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>
            <a:spLocks noGrp="1"/>
          </p:cNvSpPr>
          <p:nvPr>
            <p:ph type="body" idx="1"/>
          </p:nvPr>
        </p:nvSpPr>
        <p:spPr>
          <a:xfrm>
            <a:off x="174813" y="1327530"/>
            <a:ext cx="11842377" cy="553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Conference publication: </a:t>
            </a:r>
            <a:r>
              <a:rPr lang="en-IN" sz="2000" b="0"/>
              <a:t>Paper in IEEE format covering the pipeline, model results and dashboard.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Research proposal: </a:t>
            </a:r>
            <a:r>
              <a:rPr lang="en-IN" sz="2000" b="0"/>
              <a:t>Extend to state-level analysis with more data layers (vegetation, terrain).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Journal publication: </a:t>
            </a:r>
            <a:r>
              <a:rPr lang="en-IN" sz="2000" b="0"/>
              <a:t>After further validation and comparison with other models.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000" b="1"/>
              <a:t>Patent: </a:t>
            </a:r>
            <a:r>
              <a:rPr lang="en-IN" sz="2000" b="0"/>
              <a:t>Not planned; reconsider only if the sensor-to-ML integration proves novel.</a:t>
            </a:r>
            <a:endParaRPr dirty="0"/>
          </a:p>
        </p:txBody>
      </p:sp>
      <p:sp>
        <p:nvSpPr>
          <p:cNvPr id="234" name="Google Shape;234;p15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EL Phase-I</a:t>
            </a:r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2235201" y="145670"/>
            <a:ext cx="8974666" cy="118186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Expected Outcome by the end of First Year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" name="Google Shape;215;p13"/>
          <p:cNvSpPr txBox="1">
            <a:spLocks noGrp="1"/>
          </p:cNvSpPr>
          <p:nvPr>
            <p:ph type="body" idx="1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Done - Data: </a:t>
            </a:r>
            <a:r>
              <a:rPr lang="en-IN" sz="2200" b="0"/>
              <a:t>FIRMS cleaning and weather join, 1.9 million fire points.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Done - ML: </a:t>
            </a:r>
            <a:r>
              <a:rPr lang="en-IN" sz="2200" b="0"/>
              <a:t>Models compared, final model tested on unseen 2025 fires.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Done - Software: </a:t>
            </a:r>
            <a:r>
              <a:rPr lang="en-IN" sz="2200" b="0"/>
              <a:t>Streamlit dashboard, runs offline with no sensor.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In progress - Simulation: </a:t>
            </a:r>
            <a:r>
              <a:rPr lang="en-IN" sz="2200" b="0"/>
              <a:t>ESP32 sketch working in Wokwi, dashboard link next.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Next - Hardware: </a:t>
            </a:r>
            <a:r>
              <a:rPr lang="en-IN" sz="2200" b="0"/>
              <a:t>Wire and flash the ESP32, DHT22 and MQ-135 unit, calibrate.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Next - Reporting: </a:t>
            </a:r>
            <a:r>
              <a:rPr lang="en-IN" sz="2200" b="0"/>
              <a:t>Evidence screenshots, report and conference paper.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218" name="Google Shape;218;p13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Timeline of the project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" name="Google Shape;215;p13"/>
          <p:cNvSpPr txBox="1">
            <a:spLocks noGrp="1"/>
          </p:cNvSpPr>
          <p:nvPr>
            <p:ph type="body" idx="1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SDG 13 Climate Action: </a:t>
            </a:r>
            <a:r>
              <a:rPr lang="en-IN" sz="2200" b="0"/>
              <a:t>Supports 13.1 and 13.3 by showing how heat, dryness and wind relate to fire intensity.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SDG 15 Life on Land: </a:t>
            </a:r>
            <a:r>
              <a:rPr lang="en-IN" sz="2200" b="0"/>
              <a:t>Supports 15.2 by showing where and when intense vegetation fires occur.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SDG 11 Sustainable Cities: </a:t>
            </a:r>
            <a:r>
              <a:rPr lang="en-IN" sz="2200" b="0"/>
              <a:t>Contributes to 11.5 with a low-cost local smoke alert demonstration.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sz="2200" b="1"/>
              <a:t>SDG 3 Good Health: </a:t>
            </a:r>
            <a:r>
              <a:rPr lang="en-IN" sz="2200" b="0"/>
              <a:t>Contributes to 3.9 through simple local air-quality awareness.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18" name="Google Shape;218;p13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SDG Alignment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1038</Words>
  <Application>Microsoft Office PowerPoint</Application>
  <PresentationFormat>Widescreen</PresentationFormat>
  <Paragraphs>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Samarth BN</dc:creator>
  <cp:lastModifiedBy>Samarth BN</cp:lastModifiedBy>
  <cp:revision>2</cp:revision>
  <dcterms:modified xsi:type="dcterms:W3CDTF">2026-10-30T05:41:24Z</dcterms:modified>
</cp:coreProperties>
</file>