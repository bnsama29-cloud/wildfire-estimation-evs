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7" r:id="rId11"/>
    <p:sldId id="268" r:id="rId12"/>
    <p:sldId id="269" r:id="rId13"/>
    <p:sldId id="270" r:id="rId14"/>
  </p:sldIdLst>
  <p:sldSz cx="12192000" cy="6858000"/>
  <p:notesSz cx="6761163" cy="9942513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725" y="53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29837" cy="4988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29761" y="0"/>
            <a:ext cx="2929837" cy="4988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398463" y="1243013"/>
            <a:ext cx="5964237" cy="33559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9443662"/>
            <a:ext cx="2929837" cy="4988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29761" y="9443662"/>
            <a:ext cx="2929837" cy="4988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299680585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1:notes"/>
          <p:cNvSpPr txBox="1">
            <a:spLocks noGrp="1"/>
          </p:cNvSpPr>
          <p:nvPr>
            <p:ph type="body" idx="1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" name="Google Shape;123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98463" y="1243013"/>
            <a:ext cx="5964237" cy="33559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592024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4:notes"/>
          <p:cNvSpPr txBox="1">
            <a:spLocks noGrp="1"/>
          </p:cNvSpPr>
          <p:nvPr>
            <p:ph type="body" idx="1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9" name="Google Shape;139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98463" y="1243013"/>
            <a:ext cx="5964237" cy="33559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6894063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5:notes"/>
          <p:cNvSpPr txBox="1">
            <a:spLocks noGrp="1"/>
          </p:cNvSpPr>
          <p:nvPr>
            <p:ph type="body" idx="1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" name="Google Shape;148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98463" y="1243013"/>
            <a:ext cx="5964237" cy="33559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1958246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6:notes"/>
          <p:cNvSpPr txBox="1">
            <a:spLocks noGrp="1"/>
          </p:cNvSpPr>
          <p:nvPr>
            <p:ph type="body" idx="1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6" name="Google Shape;156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98463" y="1243013"/>
            <a:ext cx="5964237" cy="33559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98548042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7:notes"/>
          <p:cNvSpPr txBox="1">
            <a:spLocks noGrp="1"/>
          </p:cNvSpPr>
          <p:nvPr>
            <p:ph type="body" idx="1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" name="Google Shape;164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98463" y="1243013"/>
            <a:ext cx="5964237" cy="33559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9183255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8:notes"/>
          <p:cNvSpPr txBox="1">
            <a:spLocks noGrp="1"/>
          </p:cNvSpPr>
          <p:nvPr>
            <p:ph type="body" idx="1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98463" y="1243013"/>
            <a:ext cx="5964237" cy="33559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0017442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9:notes"/>
          <p:cNvSpPr txBox="1">
            <a:spLocks noGrp="1"/>
          </p:cNvSpPr>
          <p:nvPr>
            <p:ph type="body" idx="1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0" name="Google Shape;180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98463" y="1243013"/>
            <a:ext cx="5964237" cy="33559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92825598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0:notes"/>
          <p:cNvSpPr txBox="1">
            <a:spLocks noGrp="1"/>
          </p:cNvSpPr>
          <p:nvPr>
            <p:ph type="body" idx="1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8" name="Google Shape;188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98463" y="1243013"/>
            <a:ext cx="5964237" cy="33559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24813848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1:notes"/>
          <p:cNvSpPr txBox="1">
            <a:spLocks noGrp="1"/>
          </p:cNvSpPr>
          <p:nvPr>
            <p:ph type="body" idx="1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6" name="Google Shape;196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98463" y="1243013"/>
            <a:ext cx="5964237" cy="33559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5266966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98463" y="1243013"/>
            <a:ext cx="5964237" cy="33559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2" name="Google Shape;212;p13:notes"/>
          <p:cNvSpPr txBox="1">
            <a:spLocks noGrp="1"/>
          </p:cNvSpPr>
          <p:nvPr>
            <p:ph type="body" idx="1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3" name="Google Shape;213;p13:notes"/>
          <p:cNvSpPr txBox="1">
            <a:spLocks noGrp="1"/>
          </p:cNvSpPr>
          <p:nvPr>
            <p:ph type="sldNum" idx="12"/>
          </p:nvPr>
        </p:nvSpPr>
        <p:spPr>
          <a:xfrm>
            <a:off x="3829761" y="9443662"/>
            <a:ext cx="2929837" cy="4988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10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60714006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98463" y="1243013"/>
            <a:ext cx="5964237" cy="33559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1" name="Google Shape;221;p14:notes"/>
          <p:cNvSpPr txBox="1">
            <a:spLocks noGrp="1"/>
          </p:cNvSpPr>
          <p:nvPr>
            <p:ph type="body" idx="1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2" name="Google Shape;222;p14:notes"/>
          <p:cNvSpPr txBox="1">
            <a:spLocks noGrp="1"/>
          </p:cNvSpPr>
          <p:nvPr>
            <p:ph type="sldNum" idx="12"/>
          </p:nvPr>
        </p:nvSpPr>
        <p:spPr>
          <a:xfrm>
            <a:off x="3829761" y="9443662"/>
            <a:ext cx="2929837" cy="4988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11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00855170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98463" y="1243013"/>
            <a:ext cx="5964237" cy="33559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30" name="Google Shape;230;p15:notes"/>
          <p:cNvSpPr txBox="1">
            <a:spLocks noGrp="1"/>
          </p:cNvSpPr>
          <p:nvPr>
            <p:ph type="body" idx="1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1" name="Google Shape;231;p15:notes"/>
          <p:cNvSpPr txBox="1">
            <a:spLocks noGrp="1"/>
          </p:cNvSpPr>
          <p:nvPr>
            <p:ph type="sldNum" idx="12"/>
          </p:nvPr>
        </p:nvSpPr>
        <p:spPr>
          <a:xfrm>
            <a:off x="3829761" y="9443662"/>
            <a:ext cx="2929837" cy="4988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12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5215583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16:notes"/>
          <p:cNvSpPr txBox="1">
            <a:spLocks noGrp="1"/>
          </p:cNvSpPr>
          <p:nvPr>
            <p:ph type="body" idx="1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9" name="Google Shape;239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98463" y="1243013"/>
            <a:ext cx="5964237" cy="33559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8774674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jp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>
  <p:cSld name="Title and Content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8"/>
          <p:cNvSpPr txBox="1">
            <a:spLocks noGrp="1"/>
          </p:cNvSpPr>
          <p:nvPr>
            <p:ph type="body" idx="1"/>
          </p:nvPr>
        </p:nvSpPr>
        <p:spPr>
          <a:xfrm>
            <a:off x="174813" y="1258282"/>
            <a:ext cx="11842377" cy="4918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800"/>
              <a:buChar char="•"/>
              <a:defRPr>
                <a:solidFill>
                  <a:srgbClr val="002060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1pPr>
            <a:lvl2pPr marL="914400" lvl="1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Bookman Old Style"/>
                <a:ea typeface="Bookman Old Style"/>
                <a:cs typeface="Bookman Old Style"/>
                <a:sym typeface="Bookman Old Style"/>
              </a:defRPr>
            </a:lvl2pPr>
            <a:lvl3pPr marL="1371600" lvl="2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2000"/>
              <a:buChar char="•"/>
              <a:defRPr>
                <a:solidFill>
                  <a:srgbClr val="002060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1800"/>
              <a:buChar char="•"/>
              <a:defRPr>
                <a:solidFill>
                  <a:srgbClr val="002060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1800"/>
              <a:buChar char="•"/>
              <a:defRPr>
                <a:solidFill>
                  <a:srgbClr val="002060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" name="Google Shape;17;p18"/>
          <p:cNvSpPr txBox="1"/>
          <p:nvPr/>
        </p:nvSpPr>
        <p:spPr>
          <a:xfrm>
            <a:off x="5055596" y="6405140"/>
            <a:ext cx="2080806" cy="2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7700" rIns="0" bIns="0" anchor="t" anchorCtr="0">
            <a:spAutoFit/>
          </a:bodyPr>
          <a:lstStyle/>
          <a:p>
            <a:pPr marL="7701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400" b="1" i="1" u="none" strike="noStrike" cap="none">
                <a:solidFill>
                  <a:srgbClr val="422C75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Go, change the world</a:t>
            </a:r>
            <a:endParaRPr sz="1400" b="1" i="0" u="none" strike="noStrike" cap="none">
              <a:solidFill>
                <a:schemeClr val="dk1"/>
              </a:solidFill>
              <a:latin typeface="Bookman Old Style"/>
              <a:ea typeface="Bookman Old Style"/>
              <a:cs typeface="Bookman Old Style"/>
              <a:sym typeface="Bookman Old Style"/>
            </a:endParaRPr>
          </a:p>
        </p:txBody>
      </p:sp>
      <p:sp>
        <p:nvSpPr>
          <p:cNvPr id="18" name="Google Shape;18;p18"/>
          <p:cNvSpPr txBox="1">
            <a:spLocks noGrp="1"/>
          </p:cNvSpPr>
          <p:nvPr>
            <p:ph type="dt" idx="10"/>
          </p:nvPr>
        </p:nvSpPr>
        <p:spPr>
          <a:xfrm>
            <a:off x="174812" y="634720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solidFill>
                  <a:srgbClr val="002060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18"/>
          <p:cNvSpPr txBox="1">
            <a:spLocks noGrp="1"/>
          </p:cNvSpPr>
          <p:nvPr>
            <p:ph type="sldNum" idx="12"/>
          </p:nvPr>
        </p:nvSpPr>
        <p:spPr>
          <a:xfrm>
            <a:off x="9273988" y="634720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 b="1" i="0" u="none" strike="noStrike" cap="none">
                <a:solidFill>
                  <a:srgbClr val="002060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1pPr>
            <a:lvl2pPr marL="0" lvl="1" indent="0" algn="r">
              <a:spcBef>
                <a:spcPts val="0"/>
              </a:spcBef>
              <a:buNone/>
              <a:defRPr sz="1200" b="1" i="0" u="none" strike="noStrike" cap="none">
                <a:solidFill>
                  <a:srgbClr val="002060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2pPr>
            <a:lvl3pPr marL="0" lvl="2" indent="0" algn="r">
              <a:spcBef>
                <a:spcPts val="0"/>
              </a:spcBef>
              <a:buNone/>
              <a:defRPr sz="1200" b="1" i="0" u="none" strike="noStrike" cap="none">
                <a:solidFill>
                  <a:srgbClr val="002060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3pPr>
            <a:lvl4pPr marL="0" lvl="3" indent="0" algn="r">
              <a:spcBef>
                <a:spcPts val="0"/>
              </a:spcBef>
              <a:buNone/>
              <a:defRPr sz="1200" b="1" i="0" u="none" strike="noStrike" cap="none">
                <a:solidFill>
                  <a:srgbClr val="002060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4pPr>
            <a:lvl5pPr marL="0" lvl="4" indent="0" algn="r">
              <a:spcBef>
                <a:spcPts val="0"/>
              </a:spcBef>
              <a:buNone/>
              <a:defRPr sz="1200" b="1" i="0" u="none" strike="noStrike" cap="none">
                <a:solidFill>
                  <a:srgbClr val="002060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5pPr>
            <a:lvl6pPr marL="0" lvl="5" indent="0" algn="r">
              <a:spcBef>
                <a:spcPts val="0"/>
              </a:spcBef>
              <a:buNone/>
              <a:defRPr sz="1200" b="1" i="0" u="none" strike="noStrike" cap="none">
                <a:solidFill>
                  <a:srgbClr val="002060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6pPr>
            <a:lvl7pPr marL="0" lvl="6" indent="0" algn="r">
              <a:spcBef>
                <a:spcPts val="0"/>
              </a:spcBef>
              <a:buNone/>
              <a:defRPr sz="1200" b="1" i="0" u="none" strike="noStrike" cap="none">
                <a:solidFill>
                  <a:srgbClr val="002060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7pPr>
            <a:lvl8pPr marL="0" lvl="7" indent="0" algn="r">
              <a:spcBef>
                <a:spcPts val="0"/>
              </a:spcBef>
              <a:buNone/>
              <a:defRPr sz="1200" b="1" i="0" u="none" strike="noStrike" cap="none">
                <a:solidFill>
                  <a:srgbClr val="002060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8pPr>
            <a:lvl9pPr marL="0" lvl="8" indent="0" algn="r">
              <a:spcBef>
                <a:spcPts val="0"/>
              </a:spcBef>
              <a:buNone/>
              <a:defRPr sz="1200" b="1" i="0" u="none" strike="noStrike" cap="none">
                <a:solidFill>
                  <a:srgbClr val="002060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  <p:pic>
        <p:nvPicPr>
          <p:cNvPr id="20" name="Google Shape;20;p18"/>
          <p:cNvPicPr preferRelativeResize="0"/>
          <p:nvPr/>
        </p:nvPicPr>
        <p:blipFill rotWithShape="1">
          <a:blip r:embed="rId2">
            <a:alphaModFix/>
          </a:blip>
          <a:srcRect t="13833"/>
          <a:stretch/>
        </p:blipFill>
        <p:spPr>
          <a:xfrm>
            <a:off x="-1" y="76427"/>
            <a:ext cx="2207505" cy="99763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9"/>
          <p:cNvSpPr txBox="1">
            <a:spLocks noGrp="1"/>
          </p:cNvSpPr>
          <p:nvPr>
            <p:ph type="ctrTitle"/>
          </p:nvPr>
        </p:nvSpPr>
        <p:spPr>
          <a:xfrm>
            <a:off x="1524000" y="1195310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6000"/>
              <a:buFont typeface="Bookman Old Style"/>
              <a:buNone/>
              <a:defRPr sz="6000">
                <a:solidFill>
                  <a:srgbClr val="002060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9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C00000"/>
              </a:buClr>
              <a:buSzPts val="2400"/>
              <a:buNone/>
              <a:defRPr sz="2400">
                <a:solidFill>
                  <a:srgbClr val="C00000"/>
                </a:solidFill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24" name="Google Shape;24;p19"/>
          <p:cNvSpPr txBox="1">
            <a:spLocks noGrp="1"/>
          </p:cNvSpPr>
          <p:nvPr>
            <p:ph type="dt" idx="10"/>
          </p:nvPr>
        </p:nvSpPr>
        <p:spPr>
          <a:xfrm>
            <a:off x="838201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19"/>
          <p:cNvSpPr txBox="1">
            <a:spLocks noGrp="1"/>
          </p:cNvSpPr>
          <p:nvPr>
            <p:ph type="sldNum" idx="12"/>
          </p:nvPr>
        </p:nvSpPr>
        <p:spPr>
          <a:xfrm>
            <a:off x="8610601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  <p:sp>
        <p:nvSpPr>
          <p:cNvPr id="26" name="Google Shape;26;p19"/>
          <p:cNvSpPr txBox="1"/>
          <p:nvPr/>
        </p:nvSpPr>
        <p:spPr>
          <a:xfrm>
            <a:off x="4541263" y="6344368"/>
            <a:ext cx="3498933" cy="3771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7700" rIns="0" bIns="0" anchor="t" anchorCtr="0">
            <a:spAutoFit/>
          </a:bodyPr>
          <a:lstStyle/>
          <a:p>
            <a:pPr marL="7701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400" b="1" i="1">
                <a:solidFill>
                  <a:srgbClr val="422C75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Go, change the world</a:t>
            </a:r>
            <a:endParaRPr sz="2400" b="1">
              <a:solidFill>
                <a:schemeClr val="dk1"/>
              </a:solidFill>
              <a:latin typeface="Bookman Old Style"/>
              <a:ea typeface="Bookman Old Style"/>
              <a:cs typeface="Bookman Old Style"/>
              <a:sym typeface="Bookman Old Style"/>
            </a:endParaRPr>
          </a:p>
        </p:txBody>
      </p:sp>
      <p:pic>
        <p:nvPicPr>
          <p:cNvPr id="27" name="Google Shape;27;p19"/>
          <p:cNvPicPr preferRelativeResize="0"/>
          <p:nvPr/>
        </p:nvPicPr>
        <p:blipFill rotWithShape="1">
          <a:blip r:embed="rId2">
            <a:alphaModFix/>
          </a:blip>
          <a:srcRect t="13833"/>
          <a:stretch/>
        </p:blipFill>
        <p:spPr>
          <a:xfrm>
            <a:off x="0" y="0"/>
            <a:ext cx="2207505" cy="99763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>
  <p:cSld name="Two Conten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20"/>
          <p:cNvSpPr txBox="1">
            <a:spLocks noGrp="1"/>
          </p:cNvSpPr>
          <p:nvPr>
            <p:ph type="body" idx="1"/>
          </p:nvPr>
        </p:nvSpPr>
        <p:spPr>
          <a:xfrm>
            <a:off x="268942" y="1258282"/>
            <a:ext cx="5750859" cy="49186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0" name="Google Shape;30;p20"/>
          <p:cNvSpPr txBox="1">
            <a:spLocks noGrp="1"/>
          </p:cNvSpPr>
          <p:nvPr>
            <p:ph type="body" idx="2"/>
          </p:nvPr>
        </p:nvSpPr>
        <p:spPr>
          <a:xfrm>
            <a:off x="6172202" y="1258280"/>
            <a:ext cx="5795682" cy="49186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1" name="Google Shape;31;p20"/>
          <p:cNvSpPr txBox="1">
            <a:spLocks noGrp="1"/>
          </p:cNvSpPr>
          <p:nvPr>
            <p:ph type="dt" idx="10"/>
          </p:nvPr>
        </p:nvSpPr>
        <p:spPr>
          <a:xfrm>
            <a:off x="26894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20"/>
          <p:cNvSpPr txBox="1">
            <a:spLocks noGrp="1"/>
          </p:cNvSpPr>
          <p:nvPr>
            <p:ph type="sldNum" idx="12"/>
          </p:nvPr>
        </p:nvSpPr>
        <p:spPr>
          <a:xfrm>
            <a:off x="9224683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  <p:grpSp>
        <p:nvGrpSpPr>
          <p:cNvPr id="33" name="Google Shape;33;p20"/>
          <p:cNvGrpSpPr/>
          <p:nvPr/>
        </p:nvGrpSpPr>
        <p:grpSpPr>
          <a:xfrm>
            <a:off x="4862837" y="6212514"/>
            <a:ext cx="2313924" cy="600635"/>
            <a:chOff x="9682912" y="8965"/>
            <a:chExt cx="2402541" cy="600635"/>
          </a:xfrm>
        </p:grpSpPr>
        <p:sp>
          <p:nvSpPr>
            <p:cNvPr id="34" name="Google Shape;34;p20"/>
            <p:cNvSpPr/>
            <p:nvPr/>
          </p:nvSpPr>
          <p:spPr>
            <a:xfrm>
              <a:off x="9682912" y="8965"/>
              <a:ext cx="2402541" cy="600635"/>
            </a:xfrm>
            <a:prstGeom prst="roundRect">
              <a:avLst>
                <a:gd name="adj" fmla="val 16667"/>
              </a:avLst>
            </a:prstGeom>
            <a:solidFill>
              <a:schemeClr val="lt1"/>
            </a:solidFill>
            <a:ln w="19050" cap="flat" cmpd="sng">
              <a:solidFill>
                <a:srgbClr val="002060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" name="Google Shape;35;p20"/>
            <p:cNvSpPr txBox="1"/>
            <p:nvPr/>
          </p:nvSpPr>
          <p:spPr>
            <a:xfrm>
              <a:off x="9803934" y="193190"/>
              <a:ext cx="2160495" cy="2232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7700" rIns="0" bIns="0" anchor="t" anchorCtr="0">
              <a:spAutoFit/>
            </a:bodyPr>
            <a:lstStyle/>
            <a:p>
              <a:pPr marL="7701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IN" sz="1400" b="1" i="1">
                  <a:solidFill>
                    <a:srgbClr val="422C75"/>
                  </a:solidFill>
                  <a:latin typeface="Bookman Old Style"/>
                  <a:ea typeface="Bookman Old Style"/>
                  <a:cs typeface="Bookman Old Style"/>
                  <a:sym typeface="Bookman Old Style"/>
                </a:rPr>
                <a:t>Go, change the world</a:t>
              </a:r>
              <a:endParaRPr sz="1400" b="1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endParaRPr>
            </a:p>
          </p:txBody>
        </p:sp>
      </p:grpSp>
      <p:pic>
        <p:nvPicPr>
          <p:cNvPr id="36" name="Google Shape;36;p20"/>
          <p:cNvPicPr preferRelativeResize="0"/>
          <p:nvPr/>
        </p:nvPicPr>
        <p:blipFill rotWithShape="1">
          <a:blip r:embed="rId2">
            <a:alphaModFix/>
          </a:blip>
          <a:srcRect t="13833"/>
          <a:stretch/>
        </p:blipFill>
        <p:spPr>
          <a:xfrm>
            <a:off x="224117" y="81266"/>
            <a:ext cx="2207505" cy="99763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21"/>
          <p:cNvSpPr txBox="1">
            <a:spLocks noGrp="1"/>
          </p:cNvSpPr>
          <p:nvPr>
            <p:ph type="title"/>
          </p:nvPr>
        </p:nvSpPr>
        <p:spPr>
          <a:xfrm>
            <a:off x="831852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ts val="5400"/>
              <a:buFont typeface="Bookman Old Style"/>
              <a:buNone/>
              <a:defRPr sz="5400">
                <a:solidFill>
                  <a:srgbClr val="C00000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21"/>
          <p:cNvSpPr txBox="1">
            <a:spLocks noGrp="1"/>
          </p:cNvSpPr>
          <p:nvPr>
            <p:ph type="body" idx="1"/>
          </p:nvPr>
        </p:nvSpPr>
        <p:spPr>
          <a:xfrm>
            <a:off x="831852" y="4589464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400"/>
              <a:buNone/>
              <a:defRPr sz="2400">
                <a:solidFill>
                  <a:srgbClr val="002060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40" name="Google Shape;40;p21"/>
          <p:cNvSpPr txBox="1">
            <a:spLocks noGrp="1"/>
          </p:cNvSpPr>
          <p:nvPr>
            <p:ph type="dt" idx="10"/>
          </p:nvPr>
        </p:nvSpPr>
        <p:spPr>
          <a:xfrm>
            <a:off x="838201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21"/>
          <p:cNvSpPr txBox="1">
            <a:spLocks noGrp="1"/>
          </p:cNvSpPr>
          <p:nvPr>
            <p:ph type="ftr" idx="11"/>
          </p:nvPr>
        </p:nvSpPr>
        <p:spPr>
          <a:xfrm>
            <a:off x="4038602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21"/>
          <p:cNvSpPr txBox="1">
            <a:spLocks noGrp="1"/>
          </p:cNvSpPr>
          <p:nvPr>
            <p:ph type="sldNum" idx="12"/>
          </p:nvPr>
        </p:nvSpPr>
        <p:spPr>
          <a:xfrm>
            <a:off x="8610601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  <p:grpSp>
        <p:nvGrpSpPr>
          <p:cNvPr id="43" name="Google Shape;43;p21"/>
          <p:cNvGrpSpPr/>
          <p:nvPr/>
        </p:nvGrpSpPr>
        <p:grpSpPr>
          <a:xfrm>
            <a:off x="9842217" y="17838"/>
            <a:ext cx="2313924" cy="600635"/>
            <a:chOff x="9682912" y="8965"/>
            <a:chExt cx="2402541" cy="600635"/>
          </a:xfrm>
        </p:grpSpPr>
        <p:sp>
          <p:nvSpPr>
            <p:cNvPr id="44" name="Google Shape;44;p21"/>
            <p:cNvSpPr/>
            <p:nvPr/>
          </p:nvSpPr>
          <p:spPr>
            <a:xfrm>
              <a:off x="9682912" y="8965"/>
              <a:ext cx="2402541" cy="600635"/>
            </a:xfrm>
            <a:prstGeom prst="roundRect">
              <a:avLst>
                <a:gd name="adj" fmla="val 16667"/>
              </a:avLst>
            </a:prstGeom>
            <a:solidFill>
              <a:schemeClr val="lt1"/>
            </a:solidFill>
            <a:ln w="19050" cap="flat" cmpd="sng">
              <a:solidFill>
                <a:srgbClr val="002060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" name="Google Shape;45;p21"/>
            <p:cNvSpPr txBox="1"/>
            <p:nvPr/>
          </p:nvSpPr>
          <p:spPr>
            <a:xfrm>
              <a:off x="9803934" y="193190"/>
              <a:ext cx="2160495" cy="2232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7700" rIns="0" bIns="0" anchor="t" anchorCtr="0">
              <a:spAutoFit/>
            </a:bodyPr>
            <a:lstStyle/>
            <a:p>
              <a:pPr marL="7701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IN" sz="1400" b="1" i="1">
                  <a:solidFill>
                    <a:srgbClr val="422C75"/>
                  </a:solidFill>
                  <a:latin typeface="Bookman Old Style"/>
                  <a:ea typeface="Bookman Old Style"/>
                  <a:cs typeface="Bookman Old Style"/>
                  <a:sym typeface="Bookman Old Style"/>
                </a:rPr>
                <a:t>Go, change the world</a:t>
              </a:r>
              <a:endParaRPr sz="1400" b="1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endParaRPr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" name="Google Shape;47;p22"/>
          <p:cNvGrpSpPr/>
          <p:nvPr/>
        </p:nvGrpSpPr>
        <p:grpSpPr>
          <a:xfrm>
            <a:off x="-35002" y="0"/>
            <a:ext cx="12191145" cy="6858000"/>
            <a:chOff x="-35003" y="-1"/>
            <a:chExt cx="12191144" cy="6858000"/>
          </a:xfrm>
        </p:grpSpPr>
        <p:sp>
          <p:nvSpPr>
            <p:cNvPr id="48" name="Google Shape;48;p22"/>
            <p:cNvSpPr/>
            <p:nvPr/>
          </p:nvSpPr>
          <p:spPr>
            <a:xfrm>
              <a:off x="-35003" y="-1"/>
              <a:ext cx="12191144" cy="6858000"/>
            </a:xfrm>
            <a:prstGeom prst="rect">
              <a:avLst/>
            </a:prstGeom>
            <a:solidFill>
              <a:schemeClr val="lt1">
                <a:alpha val="98823"/>
              </a:schemeClr>
            </a:solidFill>
            <a:ln w="76200" cap="flat" cmpd="sng">
              <a:solidFill>
                <a:srgbClr val="005893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092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49" name="Google Shape;49;p22"/>
            <p:cNvGrpSpPr/>
            <p:nvPr/>
          </p:nvGrpSpPr>
          <p:grpSpPr>
            <a:xfrm>
              <a:off x="0" y="-1"/>
              <a:ext cx="1174375" cy="932329"/>
              <a:chOff x="1" y="0"/>
              <a:chExt cx="995082" cy="663388"/>
            </a:xfrm>
          </p:grpSpPr>
          <p:sp>
            <p:nvSpPr>
              <p:cNvPr id="50" name="Google Shape;50;p22"/>
              <p:cNvSpPr/>
              <p:nvPr/>
            </p:nvSpPr>
            <p:spPr>
              <a:xfrm>
                <a:off x="1" y="0"/>
                <a:ext cx="995082" cy="663388"/>
              </a:xfrm>
              <a:custGeom>
                <a:avLst/>
                <a:gdLst/>
                <a:ahLst/>
                <a:cxnLst/>
                <a:rect l="l" t="t" r="r" b="b"/>
                <a:pathLst>
                  <a:path w="7436484" h="5134610" extrusionOk="0">
                    <a:moveTo>
                      <a:pt x="7435941" y="0"/>
                    </a:moveTo>
                    <a:lnTo>
                      <a:pt x="0" y="0"/>
                    </a:lnTo>
                    <a:lnTo>
                      <a:pt x="0" y="5134513"/>
                    </a:lnTo>
                    <a:lnTo>
                      <a:pt x="7435941" y="0"/>
                    </a:lnTo>
                    <a:close/>
                  </a:path>
                </a:pathLst>
              </a:custGeom>
              <a:solidFill>
                <a:srgbClr val="005893"/>
              </a:solidFill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092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1" name="Google Shape;51;p22"/>
              <p:cNvSpPr/>
              <p:nvPr/>
            </p:nvSpPr>
            <p:spPr>
              <a:xfrm>
                <a:off x="73957" y="36743"/>
                <a:ext cx="383242" cy="310714"/>
              </a:xfrm>
              <a:prstGeom prst="rect">
                <a:avLst/>
              </a:prstGeom>
              <a:blipFill rotWithShape="1">
                <a:blip r:embed="rId2">
                  <a:alphaModFix/>
                </a:blip>
                <a:stretch>
                  <a:fillRect/>
                </a:stretch>
              </a:blipFill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092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52" name="Google Shape;52;p22"/>
          <p:cNvSpPr txBox="1">
            <a:spLocks noGrp="1"/>
          </p:cNvSpPr>
          <p:nvPr>
            <p:ph type="title"/>
          </p:nvPr>
        </p:nvSpPr>
        <p:spPr>
          <a:xfrm>
            <a:off x="839789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2"/>
          <p:cNvSpPr txBox="1"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4" name="Google Shape;54;p22"/>
          <p:cNvSpPr txBox="1">
            <a:spLocks noGrp="1"/>
          </p:cNvSpPr>
          <p:nvPr>
            <p:ph type="body" idx="2"/>
          </p:nvPr>
        </p:nvSpPr>
        <p:spPr>
          <a:xfrm>
            <a:off x="839789" y="2505076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5" name="Google Shape;55;p22"/>
          <p:cNvSpPr txBox="1">
            <a:spLocks noGrp="1"/>
          </p:cNvSpPr>
          <p:nvPr>
            <p:ph type="body" idx="3"/>
          </p:nvPr>
        </p:nvSpPr>
        <p:spPr>
          <a:xfrm>
            <a:off x="6172202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6" name="Google Shape;56;p22"/>
          <p:cNvSpPr txBox="1">
            <a:spLocks noGrp="1"/>
          </p:cNvSpPr>
          <p:nvPr>
            <p:ph type="body" idx="4"/>
          </p:nvPr>
        </p:nvSpPr>
        <p:spPr>
          <a:xfrm>
            <a:off x="6172202" y="2505076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7" name="Google Shape;57;p22"/>
          <p:cNvSpPr txBox="1">
            <a:spLocks noGrp="1"/>
          </p:cNvSpPr>
          <p:nvPr>
            <p:ph type="dt" idx="10"/>
          </p:nvPr>
        </p:nvSpPr>
        <p:spPr>
          <a:xfrm>
            <a:off x="838201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22"/>
          <p:cNvSpPr txBox="1">
            <a:spLocks noGrp="1"/>
          </p:cNvSpPr>
          <p:nvPr>
            <p:ph type="ftr" idx="11"/>
          </p:nvPr>
        </p:nvSpPr>
        <p:spPr>
          <a:xfrm>
            <a:off x="4038602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solidFill>
                  <a:srgbClr val="C00000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22"/>
          <p:cNvSpPr txBox="1">
            <a:spLocks noGrp="1"/>
          </p:cNvSpPr>
          <p:nvPr>
            <p:ph type="sldNum" idx="12"/>
          </p:nvPr>
        </p:nvSpPr>
        <p:spPr>
          <a:xfrm>
            <a:off x="8610601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  <p:grpSp>
        <p:nvGrpSpPr>
          <p:cNvPr id="60" name="Google Shape;60;p22"/>
          <p:cNvGrpSpPr/>
          <p:nvPr/>
        </p:nvGrpSpPr>
        <p:grpSpPr>
          <a:xfrm>
            <a:off x="9842217" y="17838"/>
            <a:ext cx="2313924" cy="600635"/>
            <a:chOff x="9682912" y="8965"/>
            <a:chExt cx="2402541" cy="600635"/>
          </a:xfrm>
        </p:grpSpPr>
        <p:sp>
          <p:nvSpPr>
            <p:cNvPr id="61" name="Google Shape;61;p22"/>
            <p:cNvSpPr/>
            <p:nvPr/>
          </p:nvSpPr>
          <p:spPr>
            <a:xfrm>
              <a:off x="9682912" y="8965"/>
              <a:ext cx="2402541" cy="600635"/>
            </a:xfrm>
            <a:prstGeom prst="roundRect">
              <a:avLst>
                <a:gd name="adj" fmla="val 16667"/>
              </a:avLst>
            </a:prstGeom>
            <a:solidFill>
              <a:schemeClr val="lt1"/>
            </a:solidFill>
            <a:ln w="19050" cap="flat" cmpd="sng">
              <a:solidFill>
                <a:srgbClr val="002060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2" name="Google Shape;62;p22"/>
            <p:cNvSpPr txBox="1"/>
            <p:nvPr/>
          </p:nvSpPr>
          <p:spPr>
            <a:xfrm>
              <a:off x="9803934" y="193190"/>
              <a:ext cx="2160495" cy="2232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7700" rIns="0" bIns="0" anchor="t" anchorCtr="0">
              <a:spAutoFit/>
            </a:bodyPr>
            <a:lstStyle/>
            <a:p>
              <a:pPr marL="7701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IN" sz="1400" b="1" i="1">
                  <a:solidFill>
                    <a:srgbClr val="422C75"/>
                  </a:solidFill>
                  <a:latin typeface="Bookman Old Style"/>
                  <a:ea typeface="Bookman Old Style"/>
                  <a:cs typeface="Bookman Old Style"/>
                  <a:sym typeface="Bookman Old Style"/>
                </a:rPr>
                <a:t>Go, change the world</a:t>
              </a:r>
              <a:endParaRPr sz="1400" b="1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endParaRPr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23"/>
          <p:cNvSpPr/>
          <p:nvPr/>
        </p:nvSpPr>
        <p:spPr>
          <a:xfrm>
            <a:off x="856" y="0"/>
            <a:ext cx="12191145" cy="6858000"/>
          </a:xfrm>
          <a:prstGeom prst="rect">
            <a:avLst/>
          </a:prstGeom>
          <a:solidFill>
            <a:schemeClr val="lt1">
              <a:alpha val="98823"/>
            </a:schemeClr>
          </a:solidFill>
          <a:ln w="76200" cap="flat" cmpd="sng">
            <a:solidFill>
              <a:srgbClr val="00589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92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23"/>
          <p:cNvSpPr txBox="1">
            <a:spLocks noGrp="1"/>
          </p:cNvSpPr>
          <p:nvPr>
            <p:ph type="title"/>
          </p:nvPr>
        </p:nvSpPr>
        <p:spPr>
          <a:xfrm>
            <a:off x="838202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23"/>
          <p:cNvSpPr txBox="1">
            <a:spLocks noGrp="1"/>
          </p:cNvSpPr>
          <p:nvPr>
            <p:ph type="dt" idx="10"/>
          </p:nvPr>
        </p:nvSpPr>
        <p:spPr>
          <a:xfrm>
            <a:off x="838201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3"/>
          <p:cNvSpPr txBox="1">
            <a:spLocks noGrp="1"/>
          </p:cNvSpPr>
          <p:nvPr>
            <p:ph type="ftr" idx="11"/>
          </p:nvPr>
        </p:nvSpPr>
        <p:spPr>
          <a:xfrm>
            <a:off x="4038602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23"/>
          <p:cNvSpPr txBox="1">
            <a:spLocks noGrp="1"/>
          </p:cNvSpPr>
          <p:nvPr>
            <p:ph type="sldNum" idx="12"/>
          </p:nvPr>
        </p:nvSpPr>
        <p:spPr>
          <a:xfrm>
            <a:off x="8610601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  <p:grpSp>
        <p:nvGrpSpPr>
          <p:cNvPr id="69" name="Google Shape;69;p23"/>
          <p:cNvGrpSpPr/>
          <p:nvPr/>
        </p:nvGrpSpPr>
        <p:grpSpPr>
          <a:xfrm>
            <a:off x="0" y="1"/>
            <a:ext cx="1174375" cy="932329"/>
            <a:chOff x="1" y="0"/>
            <a:chExt cx="995082" cy="663388"/>
          </a:xfrm>
        </p:grpSpPr>
        <p:sp>
          <p:nvSpPr>
            <p:cNvPr id="70" name="Google Shape;70;p23"/>
            <p:cNvSpPr/>
            <p:nvPr/>
          </p:nvSpPr>
          <p:spPr>
            <a:xfrm>
              <a:off x="1" y="0"/>
              <a:ext cx="995082" cy="663388"/>
            </a:xfrm>
            <a:custGeom>
              <a:avLst/>
              <a:gdLst/>
              <a:ahLst/>
              <a:cxnLst/>
              <a:rect l="l" t="t" r="r" b="b"/>
              <a:pathLst>
                <a:path w="7436484" h="5134610" extrusionOk="0">
                  <a:moveTo>
                    <a:pt x="7435941" y="0"/>
                  </a:moveTo>
                  <a:lnTo>
                    <a:pt x="0" y="0"/>
                  </a:lnTo>
                  <a:lnTo>
                    <a:pt x="0" y="5134513"/>
                  </a:lnTo>
                  <a:lnTo>
                    <a:pt x="7435941" y="0"/>
                  </a:lnTo>
                  <a:close/>
                </a:path>
              </a:pathLst>
            </a:custGeom>
            <a:solidFill>
              <a:srgbClr val="005893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092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1" name="Google Shape;71;p23"/>
            <p:cNvSpPr/>
            <p:nvPr/>
          </p:nvSpPr>
          <p:spPr>
            <a:xfrm>
              <a:off x="73957" y="36743"/>
              <a:ext cx="383242" cy="310714"/>
            </a:xfrm>
            <a:prstGeom prst="rect">
              <a:avLst/>
            </a:prstGeom>
            <a:blipFill rotWithShape="1">
              <a:blip r:embed="rId2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092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72" name="Google Shape;72;p23"/>
          <p:cNvGrpSpPr/>
          <p:nvPr/>
        </p:nvGrpSpPr>
        <p:grpSpPr>
          <a:xfrm>
            <a:off x="9842217" y="17838"/>
            <a:ext cx="2313924" cy="600635"/>
            <a:chOff x="9682912" y="8965"/>
            <a:chExt cx="2402541" cy="600635"/>
          </a:xfrm>
        </p:grpSpPr>
        <p:sp>
          <p:nvSpPr>
            <p:cNvPr id="73" name="Google Shape;73;p23"/>
            <p:cNvSpPr/>
            <p:nvPr/>
          </p:nvSpPr>
          <p:spPr>
            <a:xfrm>
              <a:off x="9682912" y="8965"/>
              <a:ext cx="2402541" cy="600635"/>
            </a:xfrm>
            <a:prstGeom prst="roundRect">
              <a:avLst>
                <a:gd name="adj" fmla="val 16667"/>
              </a:avLst>
            </a:prstGeom>
            <a:solidFill>
              <a:schemeClr val="lt1"/>
            </a:solidFill>
            <a:ln w="19050" cap="flat" cmpd="sng">
              <a:solidFill>
                <a:srgbClr val="002060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4" name="Google Shape;74;p23"/>
            <p:cNvSpPr txBox="1"/>
            <p:nvPr/>
          </p:nvSpPr>
          <p:spPr>
            <a:xfrm>
              <a:off x="9803934" y="193190"/>
              <a:ext cx="2160495" cy="2232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7700" rIns="0" bIns="0" anchor="t" anchorCtr="0">
              <a:spAutoFit/>
            </a:bodyPr>
            <a:lstStyle/>
            <a:p>
              <a:pPr marL="7701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IN" sz="1400" b="1" i="1">
                  <a:solidFill>
                    <a:srgbClr val="422C75"/>
                  </a:solidFill>
                  <a:latin typeface="Bookman Old Style"/>
                  <a:ea typeface="Bookman Old Style"/>
                  <a:cs typeface="Bookman Old Style"/>
                  <a:sym typeface="Bookman Old Style"/>
                </a:rPr>
                <a:t>Go, change the world</a:t>
              </a:r>
              <a:endParaRPr sz="1400" b="1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endParaRPr>
            </a:p>
          </p:txBody>
        </p: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24"/>
          <p:cNvSpPr/>
          <p:nvPr/>
        </p:nvSpPr>
        <p:spPr>
          <a:xfrm>
            <a:off x="856" y="0"/>
            <a:ext cx="12191145" cy="6858000"/>
          </a:xfrm>
          <a:prstGeom prst="rect">
            <a:avLst/>
          </a:prstGeom>
          <a:solidFill>
            <a:schemeClr val="lt1">
              <a:alpha val="98823"/>
            </a:schemeClr>
          </a:solidFill>
          <a:ln w="76200" cap="flat" cmpd="sng">
            <a:solidFill>
              <a:srgbClr val="00589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92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24"/>
          <p:cNvSpPr txBox="1">
            <a:spLocks noGrp="1"/>
          </p:cNvSpPr>
          <p:nvPr>
            <p:ph type="dt" idx="10"/>
          </p:nvPr>
        </p:nvSpPr>
        <p:spPr>
          <a:xfrm>
            <a:off x="838201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24"/>
          <p:cNvSpPr txBox="1">
            <a:spLocks noGrp="1"/>
          </p:cNvSpPr>
          <p:nvPr>
            <p:ph type="ftr" idx="11"/>
          </p:nvPr>
        </p:nvSpPr>
        <p:spPr>
          <a:xfrm>
            <a:off x="4038602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24"/>
          <p:cNvSpPr txBox="1">
            <a:spLocks noGrp="1"/>
          </p:cNvSpPr>
          <p:nvPr>
            <p:ph type="sldNum" idx="12"/>
          </p:nvPr>
        </p:nvSpPr>
        <p:spPr>
          <a:xfrm>
            <a:off x="8610601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  <p:grpSp>
        <p:nvGrpSpPr>
          <p:cNvPr id="80" name="Google Shape;80;p24"/>
          <p:cNvGrpSpPr/>
          <p:nvPr/>
        </p:nvGrpSpPr>
        <p:grpSpPr>
          <a:xfrm>
            <a:off x="9842217" y="17838"/>
            <a:ext cx="2313924" cy="600635"/>
            <a:chOff x="9682912" y="8965"/>
            <a:chExt cx="2402541" cy="600635"/>
          </a:xfrm>
        </p:grpSpPr>
        <p:sp>
          <p:nvSpPr>
            <p:cNvPr id="81" name="Google Shape;81;p24"/>
            <p:cNvSpPr/>
            <p:nvPr/>
          </p:nvSpPr>
          <p:spPr>
            <a:xfrm>
              <a:off x="9682912" y="8965"/>
              <a:ext cx="2402541" cy="600635"/>
            </a:xfrm>
            <a:prstGeom prst="roundRect">
              <a:avLst>
                <a:gd name="adj" fmla="val 16667"/>
              </a:avLst>
            </a:prstGeom>
            <a:solidFill>
              <a:schemeClr val="lt1"/>
            </a:solidFill>
            <a:ln w="19050" cap="flat" cmpd="sng">
              <a:solidFill>
                <a:srgbClr val="002060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2" name="Google Shape;82;p24"/>
            <p:cNvSpPr txBox="1"/>
            <p:nvPr/>
          </p:nvSpPr>
          <p:spPr>
            <a:xfrm>
              <a:off x="9803934" y="193190"/>
              <a:ext cx="2160495" cy="2232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7700" rIns="0" bIns="0" anchor="t" anchorCtr="0">
              <a:spAutoFit/>
            </a:bodyPr>
            <a:lstStyle/>
            <a:p>
              <a:pPr marL="7701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IN" sz="1400" b="1" i="1">
                  <a:solidFill>
                    <a:srgbClr val="422C75"/>
                  </a:solidFill>
                  <a:latin typeface="Bookman Old Style"/>
                  <a:ea typeface="Bookman Old Style"/>
                  <a:cs typeface="Bookman Old Style"/>
                  <a:sym typeface="Bookman Old Style"/>
                </a:rPr>
                <a:t>Go, change the world</a:t>
              </a:r>
              <a:endParaRPr sz="1400" b="1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endParaRPr>
            </a:p>
          </p:txBody>
        </p:sp>
      </p:grpSp>
      <p:grpSp>
        <p:nvGrpSpPr>
          <p:cNvPr id="83" name="Google Shape;83;p24"/>
          <p:cNvGrpSpPr/>
          <p:nvPr/>
        </p:nvGrpSpPr>
        <p:grpSpPr>
          <a:xfrm>
            <a:off x="0" y="1"/>
            <a:ext cx="1174375" cy="932329"/>
            <a:chOff x="1" y="0"/>
            <a:chExt cx="995082" cy="663388"/>
          </a:xfrm>
        </p:grpSpPr>
        <p:sp>
          <p:nvSpPr>
            <p:cNvPr id="84" name="Google Shape;84;p24"/>
            <p:cNvSpPr/>
            <p:nvPr/>
          </p:nvSpPr>
          <p:spPr>
            <a:xfrm>
              <a:off x="1" y="0"/>
              <a:ext cx="995082" cy="663388"/>
            </a:xfrm>
            <a:custGeom>
              <a:avLst/>
              <a:gdLst/>
              <a:ahLst/>
              <a:cxnLst/>
              <a:rect l="l" t="t" r="r" b="b"/>
              <a:pathLst>
                <a:path w="7436484" h="5134610" extrusionOk="0">
                  <a:moveTo>
                    <a:pt x="7435941" y="0"/>
                  </a:moveTo>
                  <a:lnTo>
                    <a:pt x="0" y="0"/>
                  </a:lnTo>
                  <a:lnTo>
                    <a:pt x="0" y="5134513"/>
                  </a:lnTo>
                  <a:lnTo>
                    <a:pt x="7435941" y="0"/>
                  </a:lnTo>
                  <a:close/>
                </a:path>
              </a:pathLst>
            </a:custGeom>
            <a:solidFill>
              <a:srgbClr val="005893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092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5" name="Google Shape;85;p24"/>
            <p:cNvSpPr/>
            <p:nvPr/>
          </p:nvSpPr>
          <p:spPr>
            <a:xfrm>
              <a:off x="73957" y="36743"/>
              <a:ext cx="383242" cy="310714"/>
            </a:xfrm>
            <a:prstGeom prst="rect">
              <a:avLst/>
            </a:prstGeom>
            <a:blipFill rotWithShape="1">
              <a:blip r:embed="rId2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092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86" name="Google Shape;86;p2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51096" y="1605964"/>
            <a:ext cx="5889812" cy="36460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oogle Shape;88;p25"/>
          <p:cNvGrpSpPr/>
          <p:nvPr/>
        </p:nvGrpSpPr>
        <p:grpSpPr>
          <a:xfrm>
            <a:off x="-35002" y="0"/>
            <a:ext cx="12191145" cy="6858000"/>
            <a:chOff x="-35003" y="-1"/>
            <a:chExt cx="12191144" cy="6858000"/>
          </a:xfrm>
        </p:grpSpPr>
        <p:sp>
          <p:nvSpPr>
            <p:cNvPr id="89" name="Google Shape;89;p25"/>
            <p:cNvSpPr/>
            <p:nvPr/>
          </p:nvSpPr>
          <p:spPr>
            <a:xfrm>
              <a:off x="-35003" y="-1"/>
              <a:ext cx="12191144" cy="6858000"/>
            </a:xfrm>
            <a:prstGeom prst="rect">
              <a:avLst/>
            </a:prstGeom>
            <a:solidFill>
              <a:schemeClr val="lt1">
                <a:alpha val="98823"/>
              </a:schemeClr>
            </a:solidFill>
            <a:ln w="76200" cap="flat" cmpd="sng">
              <a:solidFill>
                <a:srgbClr val="005893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092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90" name="Google Shape;90;p25"/>
            <p:cNvGrpSpPr/>
            <p:nvPr/>
          </p:nvGrpSpPr>
          <p:grpSpPr>
            <a:xfrm>
              <a:off x="0" y="-1"/>
              <a:ext cx="1174375" cy="932329"/>
              <a:chOff x="1" y="0"/>
              <a:chExt cx="995082" cy="663388"/>
            </a:xfrm>
          </p:grpSpPr>
          <p:sp>
            <p:nvSpPr>
              <p:cNvPr id="91" name="Google Shape;91;p25"/>
              <p:cNvSpPr/>
              <p:nvPr/>
            </p:nvSpPr>
            <p:spPr>
              <a:xfrm>
                <a:off x="1" y="0"/>
                <a:ext cx="995082" cy="663388"/>
              </a:xfrm>
              <a:custGeom>
                <a:avLst/>
                <a:gdLst/>
                <a:ahLst/>
                <a:cxnLst/>
                <a:rect l="l" t="t" r="r" b="b"/>
                <a:pathLst>
                  <a:path w="7436484" h="5134610" extrusionOk="0">
                    <a:moveTo>
                      <a:pt x="7435941" y="0"/>
                    </a:moveTo>
                    <a:lnTo>
                      <a:pt x="0" y="0"/>
                    </a:lnTo>
                    <a:lnTo>
                      <a:pt x="0" y="5134513"/>
                    </a:lnTo>
                    <a:lnTo>
                      <a:pt x="7435941" y="0"/>
                    </a:lnTo>
                    <a:close/>
                  </a:path>
                </a:pathLst>
              </a:custGeom>
              <a:solidFill>
                <a:srgbClr val="005893"/>
              </a:solidFill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092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92" name="Google Shape;92;p25"/>
              <p:cNvSpPr/>
              <p:nvPr/>
            </p:nvSpPr>
            <p:spPr>
              <a:xfrm>
                <a:off x="73957" y="36743"/>
                <a:ext cx="383242" cy="310714"/>
              </a:xfrm>
              <a:prstGeom prst="rect">
                <a:avLst/>
              </a:prstGeom>
              <a:blipFill rotWithShape="1">
                <a:blip r:embed="rId2">
                  <a:alphaModFix/>
                </a:blip>
                <a:stretch>
                  <a:fillRect/>
                </a:stretch>
              </a:blipFill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092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93" name="Google Shape;93;p25"/>
          <p:cNvSpPr txBox="1">
            <a:spLocks noGrp="1"/>
          </p:cNvSpPr>
          <p:nvPr>
            <p:ph type="title"/>
          </p:nvPr>
        </p:nvSpPr>
        <p:spPr>
          <a:xfrm>
            <a:off x="839790" y="457200"/>
            <a:ext cx="3932236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4" name="Google Shape;94;p25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1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95" name="Google Shape;95;p25"/>
          <p:cNvSpPr txBox="1">
            <a:spLocks noGrp="1"/>
          </p:cNvSpPr>
          <p:nvPr>
            <p:ph type="body" idx="2"/>
          </p:nvPr>
        </p:nvSpPr>
        <p:spPr>
          <a:xfrm>
            <a:off x="839790" y="2057400"/>
            <a:ext cx="3932236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96" name="Google Shape;96;p25"/>
          <p:cNvSpPr txBox="1">
            <a:spLocks noGrp="1"/>
          </p:cNvSpPr>
          <p:nvPr>
            <p:ph type="dt" idx="10"/>
          </p:nvPr>
        </p:nvSpPr>
        <p:spPr>
          <a:xfrm>
            <a:off x="838201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7" name="Google Shape;97;p25"/>
          <p:cNvSpPr txBox="1">
            <a:spLocks noGrp="1"/>
          </p:cNvSpPr>
          <p:nvPr>
            <p:ph type="ftr" idx="11"/>
          </p:nvPr>
        </p:nvSpPr>
        <p:spPr>
          <a:xfrm>
            <a:off x="4038602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8" name="Google Shape;98;p25"/>
          <p:cNvSpPr txBox="1">
            <a:spLocks noGrp="1"/>
          </p:cNvSpPr>
          <p:nvPr>
            <p:ph type="sldNum" idx="12"/>
          </p:nvPr>
        </p:nvSpPr>
        <p:spPr>
          <a:xfrm>
            <a:off x="8610601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  <p:grpSp>
        <p:nvGrpSpPr>
          <p:cNvPr id="99" name="Google Shape;99;p25"/>
          <p:cNvGrpSpPr/>
          <p:nvPr/>
        </p:nvGrpSpPr>
        <p:grpSpPr>
          <a:xfrm>
            <a:off x="9842217" y="17838"/>
            <a:ext cx="2313924" cy="600635"/>
            <a:chOff x="9682912" y="8965"/>
            <a:chExt cx="2402541" cy="600635"/>
          </a:xfrm>
        </p:grpSpPr>
        <p:sp>
          <p:nvSpPr>
            <p:cNvPr id="100" name="Google Shape;100;p25"/>
            <p:cNvSpPr/>
            <p:nvPr/>
          </p:nvSpPr>
          <p:spPr>
            <a:xfrm>
              <a:off x="9682912" y="8965"/>
              <a:ext cx="2402541" cy="600635"/>
            </a:xfrm>
            <a:prstGeom prst="roundRect">
              <a:avLst>
                <a:gd name="adj" fmla="val 16667"/>
              </a:avLst>
            </a:prstGeom>
            <a:solidFill>
              <a:schemeClr val="lt1"/>
            </a:solidFill>
            <a:ln w="19050" cap="flat" cmpd="sng">
              <a:solidFill>
                <a:srgbClr val="002060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1" name="Google Shape;101;p25"/>
            <p:cNvSpPr txBox="1"/>
            <p:nvPr/>
          </p:nvSpPr>
          <p:spPr>
            <a:xfrm>
              <a:off x="9803934" y="193190"/>
              <a:ext cx="2160495" cy="2232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7700" rIns="0" bIns="0" anchor="t" anchorCtr="0">
              <a:spAutoFit/>
            </a:bodyPr>
            <a:lstStyle/>
            <a:p>
              <a:pPr marL="7701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IN" sz="1400" b="1" i="1">
                  <a:solidFill>
                    <a:srgbClr val="422C75"/>
                  </a:solidFill>
                  <a:latin typeface="Bookman Old Style"/>
                  <a:ea typeface="Bookman Old Style"/>
                  <a:cs typeface="Bookman Old Style"/>
                  <a:sym typeface="Bookman Old Style"/>
                </a:rPr>
                <a:t>Go, change the world</a:t>
              </a:r>
              <a:endParaRPr sz="1400" b="1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endParaRPr>
            </a:p>
          </p:txBody>
        </p: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26"/>
          <p:cNvSpPr txBox="1">
            <a:spLocks noGrp="1"/>
          </p:cNvSpPr>
          <p:nvPr>
            <p:ph type="title"/>
          </p:nvPr>
        </p:nvSpPr>
        <p:spPr>
          <a:xfrm>
            <a:off x="839790" y="457200"/>
            <a:ext cx="3932236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4" name="Google Shape;104;p26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1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105" name="Google Shape;105;p26"/>
          <p:cNvSpPr txBox="1">
            <a:spLocks noGrp="1"/>
          </p:cNvSpPr>
          <p:nvPr>
            <p:ph type="body" idx="1"/>
          </p:nvPr>
        </p:nvSpPr>
        <p:spPr>
          <a:xfrm>
            <a:off x="839790" y="2057400"/>
            <a:ext cx="3932236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106" name="Google Shape;106;p26"/>
          <p:cNvSpPr txBox="1">
            <a:spLocks noGrp="1"/>
          </p:cNvSpPr>
          <p:nvPr>
            <p:ph type="dt" idx="10"/>
          </p:nvPr>
        </p:nvSpPr>
        <p:spPr>
          <a:xfrm>
            <a:off x="838201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7" name="Google Shape;107;p26"/>
          <p:cNvSpPr txBox="1">
            <a:spLocks noGrp="1"/>
          </p:cNvSpPr>
          <p:nvPr>
            <p:ph type="ftr" idx="11"/>
          </p:nvPr>
        </p:nvSpPr>
        <p:spPr>
          <a:xfrm>
            <a:off x="4038602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8" name="Google Shape;108;p26"/>
          <p:cNvSpPr txBox="1">
            <a:spLocks noGrp="1"/>
          </p:cNvSpPr>
          <p:nvPr>
            <p:ph type="sldNum" idx="12"/>
          </p:nvPr>
        </p:nvSpPr>
        <p:spPr>
          <a:xfrm>
            <a:off x="8610601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7"/>
          <p:cNvSpPr txBox="1">
            <a:spLocks noGrp="1"/>
          </p:cNvSpPr>
          <p:nvPr>
            <p:ph type="title"/>
          </p:nvPr>
        </p:nvSpPr>
        <p:spPr>
          <a:xfrm>
            <a:off x="838202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1" name="Google Shape;111;p27"/>
          <p:cNvSpPr txBox="1">
            <a:spLocks noGrp="1"/>
          </p:cNvSpPr>
          <p:nvPr>
            <p:ph type="body" idx="1"/>
          </p:nvPr>
        </p:nvSpPr>
        <p:spPr>
          <a:xfrm rot="5400000">
            <a:off x="3920333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2" name="Google Shape;112;p27"/>
          <p:cNvSpPr txBox="1">
            <a:spLocks noGrp="1"/>
          </p:cNvSpPr>
          <p:nvPr>
            <p:ph type="dt" idx="10"/>
          </p:nvPr>
        </p:nvSpPr>
        <p:spPr>
          <a:xfrm>
            <a:off x="838201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3" name="Google Shape;113;p27"/>
          <p:cNvSpPr txBox="1">
            <a:spLocks noGrp="1"/>
          </p:cNvSpPr>
          <p:nvPr>
            <p:ph type="ftr" idx="11"/>
          </p:nvPr>
        </p:nvSpPr>
        <p:spPr>
          <a:xfrm>
            <a:off x="4038602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4" name="Google Shape;114;p27"/>
          <p:cNvSpPr txBox="1">
            <a:spLocks noGrp="1"/>
          </p:cNvSpPr>
          <p:nvPr>
            <p:ph type="sldNum" idx="12"/>
          </p:nvPr>
        </p:nvSpPr>
        <p:spPr>
          <a:xfrm>
            <a:off x="8610601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8"/>
          <p:cNvSpPr txBox="1">
            <a:spLocks noGrp="1"/>
          </p:cNvSpPr>
          <p:nvPr>
            <p:ph type="title"/>
          </p:nvPr>
        </p:nvSpPr>
        <p:spPr>
          <a:xfrm rot="5400000">
            <a:off x="7133430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7" name="Google Shape;117;p28"/>
          <p:cNvSpPr txBox="1">
            <a:spLocks noGrp="1"/>
          </p:cNvSpPr>
          <p:nvPr>
            <p:ph type="body" idx="1"/>
          </p:nvPr>
        </p:nvSpPr>
        <p:spPr>
          <a:xfrm rot="5400000">
            <a:off x="1799430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8" name="Google Shape;118;p28"/>
          <p:cNvSpPr txBox="1">
            <a:spLocks noGrp="1"/>
          </p:cNvSpPr>
          <p:nvPr>
            <p:ph type="dt" idx="10"/>
          </p:nvPr>
        </p:nvSpPr>
        <p:spPr>
          <a:xfrm>
            <a:off x="838201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9" name="Google Shape;119;p28"/>
          <p:cNvSpPr txBox="1">
            <a:spLocks noGrp="1"/>
          </p:cNvSpPr>
          <p:nvPr>
            <p:ph type="ftr" idx="11"/>
          </p:nvPr>
        </p:nvSpPr>
        <p:spPr>
          <a:xfrm>
            <a:off x="4038602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0" name="Google Shape;120;p28"/>
          <p:cNvSpPr txBox="1">
            <a:spLocks noGrp="1"/>
          </p:cNvSpPr>
          <p:nvPr>
            <p:ph type="sldNum" idx="12"/>
          </p:nvPr>
        </p:nvSpPr>
        <p:spPr>
          <a:xfrm>
            <a:off x="8610601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7"/>
          <p:cNvSpPr txBox="1">
            <a:spLocks noGrp="1"/>
          </p:cNvSpPr>
          <p:nvPr>
            <p:ph type="title"/>
          </p:nvPr>
        </p:nvSpPr>
        <p:spPr>
          <a:xfrm>
            <a:off x="838202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7"/>
          <p:cNvSpPr txBox="1">
            <a:spLocks noGrp="1"/>
          </p:cNvSpPr>
          <p:nvPr>
            <p:ph type="body" idx="1"/>
          </p:nvPr>
        </p:nvSpPr>
        <p:spPr>
          <a:xfrm>
            <a:off x="838202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7"/>
          <p:cNvSpPr txBox="1">
            <a:spLocks noGrp="1"/>
          </p:cNvSpPr>
          <p:nvPr>
            <p:ph type="dt" idx="10"/>
          </p:nvPr>
        </p:nvSpPr>
        <p:spPr>
          <a:xfrm>
            <a:off x="838201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7"/>
          <p:cNvSpPr txBox="1">
            <a:spLocks noGrp="1"/>
          </p:cNvSpPr>
          <p:nvPr>
            <p:ph type="ftr" idx="11"/>
          </p:nvPr>
        </p:nvSpPr>
        <p:spPr>
          <a:xfrm>
            <a:off x="4038602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7"/>
          <p:cNvSpPr txBox="1">
            <a:spLocks noGrp="1"/>
          </p:cNvSpPr>
          <p:nvPr>
            <p:ph type="sldNum" idx="12"/>
          </p:nvPr>
        </p:nvSpPr>
        <p:spPr>
          <a:xfrm>
            <a:off x="8610601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"/>
          <p:cNvSpPr txBox="1">
            <a:spLocks noGrp="1"/>
          </p:cNvSpPr>
          <p:nvPr>
            <p:ph type="sldNum" idx="12"/>
          </p:nvPr>
        </p:nvSpPr>
        <p:spPr>
          <a:xfrm>
            <a:off x="9273988" y="634720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1</a:t>
            </a:fld>
            <a:endParaRPr/>
          </a:p>
        </p:txBody>
      </p:sp>
      <p:pic>
        <p:nvPicPr>
          <p:cNvPr id="127" name="Google Shape;127;p1" descr="A building with a roof&#10;&#10;Description automatically generated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3">
            <a:alphaModFix/>
          </a:blip>
          <a:srcRect/>
          <a:stretch/>
        </p:blipFill>
        <p:spPr>
          <a:xfrm>
            <a:off x="421879" y="1067010"/>
            <a:ext cx="11421075" cy="3894085"/>
          </a:xfrm>
          <a:prstGeom prst="roundRect">
            <a:avLst>
              <a:gd name="adj" fmla="val 16667"/>
            </a:avLst>
          </a:prstGeom>
          <a:noFill/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</p:spPr>
      </p:pic>
      <p:sp>
        <p:nvSpPr>
          <p:cNvPr id="128" name="Google Shape;128;p1"/>
          <p:cNvSpPr/>
          <p:nvPr/>
        </p:nvSpPr>
        <p:spPr>
          <a:xfrm>
            <a:off x="349046" y="4146929"/>
            <a:ext cx="11493908" cy="1004814"/>
          </a:xfrm>
          <a:prstGeom prst="roundRect">
            <a:avLst>
              <a:gd name="adj" fmla="val 16667"/>
            </a:avLst>
          </a:prstGeom>
          <a:solidFill>
            <a:srgbClr val="002060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3000" b="1" dirty="0">
                <a:solidFill>
                  <a:srgbClr val="FF0000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Title: Early Wildfire Detection and Analysis using Machine Learning</a:t>
            </a:r>
            <a:endParaRPr dirty="0"/>
          </a:p>
        </p:txBody>
      </p:sp>
      <p:sp>
        <p:nvSpPr>
          <p:cNvPr id="129" name="Google Shape;129;p1"/>
          <p:cNvSpPr/>
          <p:nvPr/>
        </p:nvSpPr>
        <p:spPr>
          <a:xfrm>
            <a:off x="349045" y="5288583"/>
            <a:ext cx="11421075" cy="1004814"/>
          </a:xfrm>
          <a:prstGeom prst="roundRect">
            <a:avLst>
              <a:gd name="adj" fmla="val 16667"/>
            </a:avLst>
          </a:prstGeom>
          <a:solidFill>
            <a:srgbClr val="002060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3000" b="1" dirty="0">
                <a:solidFill>
                  <a:srgbClr val="FF0000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Theme: Satellite fire data + weather for fire intensity estimation</a:t>
            </a:r>
            <a:endParaRPr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4"/>
          <p:cNvSpPr txBox="1">
            <a:spLocks noGrp="1"/>
          </p:cNvSpPr>
          <p:nvPr>
            <p:ph type="sldNum" idx="12"/>
          </p:nvPr>
        </p:nvSpPr>
        <p:spPr>
          <a:xfrm>
            <a:off x="9273988" y="634720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2</a:t>
            </a:fld>
            <a:endParaRPr/>
          </a:p>
        </p:txBody>
      </p:sp>
      <p:sp>
        <p:nvSpPr>
          <p:cNvPr id="143" name="Google Shape;143;p4"/>
          <p:cNvSpPr txBox="1"/>
          <p:nvPr/>
        </p:nvSpPr>
        <p:spPr>
          <a:xfrm>
            <a:off x="2339498" y="178833"/>
            <a:ext cx="8551282" cy="6386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</a:pPr>
            <a:endParaRPr sz="3200" b="1">
              <a:solidFill>
                <a:srgbClr val="C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4"/>
          <p:cNvSpPr txBox="1"/>
          <p:nvPr/>
        </p:nvSpPr>
        <p:spPr>
          <a:xfrm>
            <a:off x="2182762" y="89747"/>
            <a:ext cx="8151863" cy="1319953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1"/>
            </a:solidFill>
            <a:prstDash val="dash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4000" b="1">
                <a:solidFill>
                  <a:srgbClr val="C00000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EL Phase-I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4000" b="1">
                <a:solidFill>
                  <a:srgbClr val="C00000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Presentation Outline</a:t>
            </a:r>
            <a:endParaRPr/>
          </a:p>
        </p:txBody>
      </p:sp>
      <p:sp>
        <p:nvSpPr>
          <p:cNvPr id="145" name="Google Shape;145;p4"/>
          <p:cNvSpPr txBox="1">
            <a:spLocks noGrp="1"/>
          </p:cNvSpPr>
          <p:nvPr>
            <p:ph type="body" idx="1"/>
          </p:nvPr>
        </p:nvSpPr>
        <p:spPr>
          <a:xfrm>
            <a:off x="575733" y="1666874"/>
            <a:ext cx="11441457" cy="45100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2800"/>
              <a:buChar char="•"/>
            </a:pPr>
            <a:r>
              <a:rPr lang="en-IN" dirty="0">
                <a:solidFill>
                  <a:srgbClr val="FF0000"/>
                </a:solidFill>
              </a:rPr>
              <a:t>Introduction</a:t>
            </a:r>
            <a:endParaRPr dirty="0">
              <a:solidFill>
                <a:srgbClr val="FF0000"/>
              </a:solidFill>
            </a:endParaRPr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800"/>
              <a:buChar char="•"/>
            </a:pPr>
            <a:r>
              <a:rPr lang="en-IN" dirty="0">
                <a:solidFill>
                  <a:srgbClr val="FF0000"/>
                </a:solidFill>
              </a:rPr>
              <a:t>Literature Review</a:t>
            </a:r>
            <a:endParaRPr dirty="0">
              <a:solidFill>
                <a:srgbClr val="FF0000"/>
              </a:solidFill>
            </a:endParaRPr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800"/>
              <a:buChar char="•"/>
            </a:pPr>
            <a:r>
              <a:rPr lang="en-IN" dirty="0">
                <a:solidFill>
                  <a:srgbClr val="FF0000"/>
                </a:solidFill>
              </a:rPr>
              <a:t>Problem Definition</a:t>
            </a:r>
            <a:endParaRPr dirty="0">
              <a:solidFill>
                <a:srgbClr val="FF0000"/>
              </a:solidFill>
            </a:endParaRPr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800"/>
              <a:buChar char="•"/>
            </a:pPr>
            <a:r>
              <a:rPr lang="en-IN" dirty="0">
                <a:solidFill>
                  <a:srgbClr val="FF0000"/>
                </a:solidFill>
              </a:rPr>
              <a:t>Objectives</a:t>
            </a:r>
            <a:endParaRPr dirty="0">
              <a:solidFill>
                <a:srgbClr val="FF0000"/>
              </a:solidFill>
            </a:endParaRPr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800"/>
              <a:buChar char="•"/>
            </a:pPr>
            <a:r>
              <a:rPr lang="en-IN" dirty="0">
                <a:solidFill>
                  <a:srgbClr val="FF0000"/>
                </a:solidFill>
              </a:rPr>
              <a:t>Methodology</a:t>
            </a:r>
            <a:endParaRPr dirty="0">
              <a:solidFill>
                <a:srgbClr val="FF0000"/>
              </a:solidFill>
            </a:endParaRPr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800"/>
              <a:buChar char="•"/>
            </a:pPr>
            <a:r>
              <a:rPr lang="en-IN" dirty="0">
                <a:solidFill>
                  <a:srgbClr val="FF0000"/>
                </a:solidFill>
              </a:rPr>
              <a:t>Proposed Outcomes</a:t>
            </a:r>
            <a:endParaRPr dirty="0">
              <a:solidFill>
                <a:srgbClr val="FF0000"/>
              </a:solidFill>
            </a:endParaRPr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800"/>
              <a:buChar char="•"/>
            </a:pPr>
            <a:r>
              <a:rPr lang="en-IN" dirty="0">
                <a:solidFill>
                  <a:srgbClr val="FF0000"/>
                </a:solidFill>
              </a:rPr>
              <a:t>Timeline of the project</a:t>
            </a:r>
            <a:endParaRPr dirty="0">
              <a:solidFill>
                <a:srgbClr val="FF0000"/>
              </a:solidFill>
            </a:endParaRPr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800"/>
              <a:buChar char="•"/>
            </a:pPr>
            <a:r>
              <a:rPr lang="en-IN" dirty="0">
                <a:solidFill>
                  <a:srgbClr val="FF0000"/>
                </a:solidFill>
              </a:rPr>
              <a:t>Conclusion</a:t>
            </a:r>
            <a:endParaRPr dirty="0">
              <a:solidFill>
                <a:srgbClr val="FF0000"/>
              </a:solidFill>
            </a:endParaRPr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800"/>
              <a:buChar char="•"/>
            </a:pPr>
            <a:r>
              <a:rPr lang="en-IN" dirty="0">
                <a:solidFill>
                  <a:srgbClr val="FF0000"/>
                </a:solidFill>
              </a:rPr>
              <a:t>References</a:t>
            </a:r>
            <a:endParaRPr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5"/>
          <p:cNvSpPr txBox="1">
            <a:spLocks noGrp="1"/>
          </p:cNvSpPr>
          <p:nvPr>
            <p:ph type="body" idx="1"/>
          </p:nvPr>
        </p:nvSpPr>
        <p:spPr>
          <a:xfrm>
            <a:off x="174813" y="1258282"/>
            <a:ext cx="6900000" cy="4918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ct val="100000"/>
              <a:buChar char="•"/>
            </a:pPr>
            <a:r>
              <a:rPr lang="en-IN" sz="1800" b="1"/>
              <a:t>Overview: </a:t>
            </a:r>
            <a:r>
              <a:rPr lang="en-IN" sz="1800" b="0"/>
              <a:t>Wildfires damage forests, air quality and livelihoods. NASA satellites (MODIS, VIIRS) detect active fires and report Fire Radiative Power (FRP, in MW), a proxy for fire intensity.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ct val="100000"/>
              <a:buChar char="•"/>
            </a:pPr>
            <a:r>
              <a:rPr lang="en-IN" sz="1800" b="1"/>
              <a:t>Why it matters: </a:t>
            </a:r>
            <a:r>
              <a:rPr lang="en-IN" sz="1800" b="0"/>
              <a:t>India records a very large number of satellite-detected fires every year, mostly in the dry season. [Add one cited statistic here]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ct val="100000"/>
              <a:buChar char="•"/>
            </a:pPr>
            <a:r>
              <a:rPr lang="en-IN" sz="1800" b="1"/>
              <a:t>Gap: </a:t>
            </a:r>
            <a:r>
              <a:rPr lang="en-IN" sz="1800" b="0"/>
              <a:t>Fire detections and weather data are public but separate and hard for non-experts to use together.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ct val="100000"/>
              <a:buChar char="•"/>
            </a:pPr>
            <a:r>
              <a:rPr lang="en-IN" sz="1800" b="1"/>
              <a:t>This project: </a:t>
            </a:r>
            <a:r>
              <a:rPr lang="en-IN" sz="1800" b="0"/>
              <a:t>Join Indian fire detections with daily weather, train an ML model to estimate FRP, and present it in an interactive dashboard.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ct val="100000"/>
              <a:buChar char="•"/>
            </a:pPr>
            <a:r>
              <a:rPr lang="en-IN" sz="1800" b="1"/>
              <a:t>Note: </a:t>
            </a:r>
            <a:r>
              <a:rPr lang="en-IN" sz="1800" b="0"/>
              <a:t>Educational prototype, not an official forecast. FRP is not burned area.</a:t>
            </a:r>
            <a:endParaRPr/>
          </a:p>
        </p:txBody>
      </p:sp>
      <p:sp>
        <p:nvSpPr>
          <p:cNvPr id="152" name="Google Shape;152;p5"/>
          <p:cNvSpPr txBox="1">
            <a:spLocks noGrp="1"/>
          </p:cNvSpPr>
          <p:nvPr>
            <p:ph type="sldNum" idx="12"/>
          </p:nvPr>
        </p:nvSpPr>
        <p:spPr>
          <a:xfrm>
            <a:off x="9273988" y="634720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Slide No. </a:t>
            </a:r>
            <a:fld id="{00000000-1234-1234-1234-123412341234}" type="slidenum">
              <a:rPr lang="en-IN"/>
              <a:t>3</a:t>
            </a:fld>
            <a:endParaRPr/>
          </a:p>
        </p:txBody>
      </p:sp>
      <p:sp>
        <p:nvSpPr>
          <p:cNvPr id="153" name="Google Shape;153;p5"/>
          <p:cNvSpPr txBox="1"/>
          <p:nvPr/>
        </p:nvSpPr>
        <p:spPr>
          <a:xfrm>
            <a:off x="1386895" y="145670"/>
            <a:ext cx="9834426" cy="839401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dash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4000" b="1">
                <a:solidFill>
                  <a:srgbClr val="C00000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Introduction</a:t>
            </a:r>
            <a:endParaRPr sz="4000" b="1">
              <a:solidFill>
                <a:srgbClr val="C00000"/>
              </a:solidFill>
              <a:latin typeface="Bookman Old Style"/>
              <a:ea typeface="Bookman Old Style"/>
              <a:cs typeface="Bookman Old Style"/>
              <a:sym typeface="Bookman Old Style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9D2A421-8EF3-C47B-4D70-525531DE37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5966" y="1258281"/>
            <a:ext cx="4791221" cy="4791221"/>
          </a:xfrm>
          <a:prstGeom prst="rect">
            <a:avLst/>
          </a:prstGeom>
        </p:spPr>
      </p:pic>
      <p:sp>
        <p:nvSpPr>
          <p:cNvPr id="154" name="TextBox 153"/>
          <p:cNvSpPr txBox="1"/>
          <p:nvPr/>
        </p:nvSpPr>
        <p:spPr>
          <a:xfrm>
            <a:off x="7225966" y="6040000"/>
            <a:ext cx="4791221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i="1">
                <a:solidFill>
                  <a:srgbClr val="262626"/>
                </a:solidFill>
              </a:rPr>
              <a:t>Fig. 1: VIIRS satellite detects fire hotspots over India; each carries an FRP value.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6"/>
          <p:cNvSpPr txBox="1">
            <a:spLocks noGrp="1"/>
          </p:cNvSpPr>
          <p:nvPr>
            <p:ph type="sldNum" idx="12"/>
          </p:nvPr>
        </p:nvSpPr>
        <p:spPr>
          <a:xfrm>
            <a:off x="9273988" y="634720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4</a:t>
            </a:fld>
            <a:endParaRPr/>
          </a:p>
        </p:txBody>
      </p:sp>
      <p:sp>
        <p:nvSpPr>
          <p:cNvPr id="161" name="Google Shape;161;p6"/>
          <p:cNvSpPr txBox="1"/>
          <p:nvPr/>
        </p:nvSpPr>
        <p:spPr>
          <a:xfrm>
            <a:off x="1710268" y="89747"/>
            <a:ext cx="9939866" cy="943186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dash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4000" b="1">
                <a:solidFill>
                  <a:srgbClr val="C00000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Literature Review</a:t>
            </a:r>
            <a:endParaRPr/>
          </a:p>
        </p:txBody>
      </p:sp>
      <p:graphicFrame>
        <p:nvGraphicFramePr>
          <p:cNvPr id="162" name="Table 161"/>
          <p:cNvGraphicFramePr>
            <a:graphicFrameLocks noGrp="1"/>
          </p:cNvGraphicFramePr>
          <p:nvPr/>
        </p:nvGraphicFramePr>
        <p:xfrm>
          <a:off x="250000" y="1200000"/>
          <a:ext cx="11700000" cy="36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0000"/>
                <a:gridCol w="2900000"/>
                <a:gridCol w="3500000"/>
                <a:gridCol w="3300000"/>
              </a:tblGrid>
              <a:tr h="42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Study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Focus / Method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Key finding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Relevance to this project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</a:tr>
              <a:tr h="64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2626"/>
                          </a:solidFill>
                        </a:rPr>
                        <a:t>Giglio et al. (2016)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MODIS Collection 6 active fire detection algorithm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Improved detection and fewer false alarms; reports FRP per fire pixel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Defines the MODIS fire points and FRP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4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2626"/>
                          </a:solidFill>
                        </a:rPr>
                        <a:t>Schroeder et al. (2014)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VIIRS 375 m active fire product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Finer resolution than MODIS; better at small, low-intensity fires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Source of our VIIRS (NOAA-20, Suomi NPP) detections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64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2626"/>
                          </a:solidFill>
                        </a:rPr>
                        <a:t>Wooster et al. (2005)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Fire radiative energy from satellite FRP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FRP and its time integral relate to biomass burned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Justifies FRP as an intensity proxy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4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2626"/>
                          </a:solidFill>
                        </a:rPr>
                        <a:t>Jain et al. (2020)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Review of ML in wildfire science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ML is widely used; most work targets occurrence, susceptibility and spread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Shows the gap: intensity estimation is less covered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64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2626"/>
                          </a:solidFill>
                        </a:rPr>
                        <a:t>Breiman (2001)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Random forest algorithm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Ensemble of trees; robust, does not overfit as trees are added, gives variable importance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Our regression model and feature importance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3" name="TextBox 162"/>
          <p:cNvSpPr txBox="1"/>
          <p:nvPr/>
        </p:nvSpPr>
        <p:spPr>
          <a:xfrm>
            <a:off x="250000" y="5000000"/>
            <a:ext cx="11700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0">
                <a:solidFill>
                  <a:srgbClr val="002060"/>
                </a:solidFill>
              </a:rPr>
              <a:t>Trend: shift from threshold rules to ML that combines satellite data with weather.   Framework: supervised regression, weather features to log(1+FRP).   Gap: few open, interactive tools estimate fire intensity for India from weather.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7"/>
          <p:cNvSpPr txBox="1">
            <a:spLocks noGrp="1"/>
          </p:cNvSpPr>
          <p:nvPr>
            <p:ph type="body" idx="1"/>
          </p:nvPr>
        </p:nvSpPr>
        <p:spPr>
          <a:xfrm>
            <a:off x="174813" y="1076325"/>
            <a:ext cx="11842377" cy="56360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ct val="100000"/>
              <a:buChar char="•"/>
            </a:pPr>
            <a:r>
              <a:rPr lang="en-IN" sz="2000" b="1"/>
              <a:t>Problem: </a:t>
            </a:r>
            <a:r>
              <a:rPr lang="en-IN" sz="2000" b="0"/>
              <a:t>Satellite fire data and weather data exist separately. There is no simple open tool that links them to show how weather conditions relate to fire intensity in India.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ct val="100000"/>
              <a:buChar char="•"/>
            </a:pPr>
            <a:r>
              <a:rPr lang="en-IN" sz="2000" b="1"/>
              <a:t>Context: </a:t>
            </a:r>
            <a:endParaRPr/>
          </a:p>
          <a:p>
            <a:pPr marL="6858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IN" sz="1800" b="0"/>
              <a:t>India has varied climate zones and distinct fire seasons.</a:t>
            </a:r>
            <a:endParaRPr/>
          </a:p>
          <a:p>
            <a:pPr marL="6858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IN" sz="1800" b="0"/>
              <a:t>FIRMS data is free but raw, and needs joining and cleaning before it is useful.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ct val="100000"/>
              <a:buChar char="•"/>
            </a:pPr>
            <a:r>
              <a:rPr lang="en-IN" sz="2000" b="1"/>
              <a:t>Significance: </a:t>
            </a:r>
            <a:endParaRPr/>
          </a:p>
          <a:p>
            <a:pPr marL="6858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IN" sz="1800" b="0"/>
              <a:t>Without such a tool, the link between weather and fire intensity stays unexplored for students and the public.</a:t>
            </a:r>
            <a:endParaRPr/>
          </a:p>
          <a:p>
            <a:pPr marL="6858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IN" sz="1800" b="0"/>
              <a:t>Gap: no reproducible pipeline from raw detections to an easy-to-read intensity estimate.</a:t>
            </a:r>
            <a:endParaRPr/>
          </a:p>
        </p:txBody>
      </p:sp>
      <p:sp>
        <p:nvSpPr>
          <p:cNvPr id="168" name="Google Shape;168;p7"/>
          <p:cNvSpPr txBox="1">
            <a:spLocks noGrp="1"/>
          </p:cNvSpPr>
          <p:nvPr>
            <p:ph type="sldNum" idx="12"/>
          </p:nvPr>
        </p:nvSpPr>
        <p:spPr>
          <a:xfrm>
            <a:off x="9273988" y="634720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5</a:t>
            </a:fld>
            <a:endParaRPr/>
          </a:p>
        </p:txBody>
      </p:sp>
      <p:sp>
        <p:nvSpPr>
          <p:cNvPr id="169" name="Google Shape;169;p7"/>
          <p:cNvSpPr txBox="1"/>
          <p:nvPr/>
        </p:nvSpPr>
        <p:spPr>
          <a:xfrm>
            <a:off x="1503705" y="0"/>
            <a:ext cx="10227733" cy="1076325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dash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3600" b="1">
                <a:solidFill>
                  <a:srgbClr val="C00000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Problem Definition</a:t>
            </a:r>
            <a:endParaRPr sz="3600" b="1">
              <a:solidFill>
                <a:srgbClr val="C00000"/>
              </a:solidFill>
              <a:latin typeface="Bookman Old Style"/>
              <a:ea typeface="Bookman Old Style"/>
              <a:cs typeface="Bookman Old Style"/>
              <a:sym typeface="Bookman Old Style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8"/>
          <p:cNvSpPr txBox="1">
            <a:spLocks noGrp="1"/>
          </p:cNvSpPr>
          <p:nvPr>
            <p:ph type="body" idx="1"/>
          </p:nvPr>
        </p:nvSpPr>
        <p:spPr>
          <a:xfrm>
            <a:off x="342900" y="1258282"/>
            <a:ext cx="11496675" cy="545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ct val="100000"/>
              <a:buChar char="•"/>
            </a:pPr>
            <a:r>
              <a:rPr lang="en-IN" sz="2000" b="1"/>
              <a:t>Main objective: </a:t>
            </a:r>
            <a:r>
              <a:rPr lang="en-IN" sz="2000" b="0"/>
              <a:t>Build an ML-based dashboard that estimates wildfire intensity (FRP) over India from satellite and weather data.</a:t>
            </a:r>
            <a:endParaRPr dirty="0"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ct val="100000"/>
              <a:buChar char="•"/>
            </a:pPr>
            <a:r>
              <a:rPr lang="en-IN" sz="2000" b="1"/>
              <a:t>Specific objectives: </a:t>
            </a:r>
            <a:endParaRPr dirty="0"/>
          </a:p>
          <a:p>
            <a:pPr marL="6858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IN" sz="1800" b="0"/>
              <a:t>Collect NASA FIRMS fire detections for India and join them with Open-Meteo weather data.</a:t>
            </a:r>
            <a:endParaRPr dirty="0"/>
          </a:p>
          <a:p>
            <a:pPr marL="6858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IN" sz="1800" b="0"/>
              <a:t>Train a Random Forest model to predict FRP and report its error (MAE).</a:t>
            </a:r>
            <a:endParaRPr dirty="0"/>
          </a:p>
          <a:p>
            <a:pPr marL="6858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IN" sz="1800" b="0"/>
              <a:t>Build a Streamlit dashboard with a map, input sliders and a risk band.</a:t>
            </a:r>
            <a:endParaRPr dirty="0"/>
          </a:p>
          <a:p>
            <a:pPr marL="6858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IN" sz="1800" b="0"/>
              <a:t>Build an ESP32 + DHT22 + MQ-135 sensor unit and show its live readings in the dashboard (software and ML first, then hardware).</a:t>
            </a:r>
            <a:endParaRPr dirty="0"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ct val="100000"/>
              <a:buChar char="•"/>
            </a:pPr>
            <a:r>
              <a:rPr lang="en-IN" sz="2000" b="1"/>
              <a:t>Contribution: </a:t>
            </a:r>
            <a:r>
              <a:rPr lang="en-IN" sz="2000" b="0"/>
              <a:t>An open, reproducible pipeline and dashboard that runs offline once data is cached.</a:t>
            </a:r>
            <a:endParaRPr dirty="0"/>
          </a:p>
        </p:txBody>
      </p:sp>
      <p:sp>
        <p:nvSpPr>
          <p:cNvPr id="176" name="Google Shape;176;p8"/>
          <p:cNvSpPr txBox="1">
            <a:spLocks noGrp="1"/>
          </p:cNvSpPr>
          <p:nvPr>
            <p:ph type="sldNum" idx="12"/>
          </p:nvPr>
        </p:nvSpPr>
        <p:spPr>
          <a:xfrm>
            <a:off x="9273988" y="634720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6</a:t>
            </a:fld>
            <a:endParaRPr/>
          </a:p>
        </p:txBody>
      </p:sp>
      <p:sp>
        <p:nvSpPr>
          <p:cNvPr id="177" name="Google Shape;177;p8"/>
          <p:cNvSpPr txBox="1"/>
          <p:nvPr/>
        </p:nvSpPr>
        <p:spPr>
          <a:xfrm>
            <a:off x="2191229" y="0"/>
            <a:ext cx="8146571" cy="1032933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1"/>
            </a:solidFill>
            <a:prstDash val="dash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4000" b="1">
                <a:solidFill>
                  <a:srgbClr val="C00000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Objectives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9"/>
          <p:cNvSpPr txBox="1">
            <a:spLocks noGrp="1"/>
          </p:cNvSpPr>
          <p:nvPr>
            <p:ph type="body" idx="1"/>
          </p:nvPr>
        </p:nvSpPr>
        <p:spPr>
          <a:xfrm>
            <a:off x="174811" y="1069220"/>
            <a:ext cx="11842377" cy="52779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ct val="100000"/>
              <a:buChar char="•"/>
            </a:pPr>
            <a:r>
              <a:rPr lang="en-IN" sz="1900" b="1"/>
              <a:t>Design: </a:t>
            </a:r>
            <a:r>
              <a:rPr lang="en-IN" sz="1900" b="0"/>
              <a:t>Quantitative, supervised ML plus an IoT sensor unit.</a:t>
            </a:r>
            <a:endParaRPr dirty="0"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ct val="100000"/>
              <a:buChar char="•"/>
            </a:pPr>
            <a:r>
              <a:rPr lang="en-IN" sz="1900" b="1"/>
              <a:t>Data collection: </a:t>
            </a:r>
            <a:endParaRPr dirty="0"/>
          </a:p>
          <a:p>
            <a:pPr marL="6858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IN" sz="1600" b="0"/>
              <a:t>NASA FIRMS VIIRS fire points for India (lat 6-37, lon 68-98): lat, lon, date, FRP, confidence, brightness.</a:t>
            </a:r>
            <a:endParaRPr dirty="0"/>
          </a:p>
          <a:p>
            <a:pPr marL="6858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IN" sz="1600" b="0"/>
              <a:t>Open-Meteo Historical API: temperature, relative humidity and wind speed per fire date and location (cached).</a:t>
            </a:r>
            <a:endParaRPr dirty="0"/>
          </a:p>
          <a:p>
            <a:pPr marL="6858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IN" sz="1600" b="0"/>
              <a:t>Live: ESP32 + DHT22 + MQ-135 send TEMP,HUMIDITY,SMOKE over USB serial.</a:t>
            </a:r>
            <a:endParaRPr dirty="0"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ct val="100000"/>
              <a:buChar char="•"/>
            </a:pPr>
            <a:r>
              <a:rPr lang="en-IN" sz="1900" b="1"/>
              <a:t>Data analysis: </a:t>
            </a:r>
            <a:endParaRPr dirty="0"/>
          </a:p>
          <a:p>
            <a:pPr marL="6858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IN" sz="1600" b="0"/>
              <a:t>Clean and join; 80/20 train-test split; Random Forest on log(1+FRP); report MAE and R2; feature importance.</a:t>
            </a:r>
            <a:endParaRPr dirty="0"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ct val="100000"/>
              <a:buChar char="•"/>
            </a:pPr>
            <a:r>
              <a:rPr lang="en-IN" sz="1900" b="1"/>
              <a:t>Tools: </a:t>
            </a:r>
            <a:r>
              <a:rPr lang="en-IN" sz="1900" b="0"/>
              <a:t>Python, pandas, scikit-learn, Streamlit, GitHub, Arduino/PlatformIO.</a:t>
            </a:r>
            <a:endParaRPr dirty="0"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ct val="100000"/>
              <a:buChar char="•"/>
            </a:pPr>
            <a:r>
              <a:rPr lang="en-IN" sz="1900" b="1"/>
              <a:t>Note: </a:t>
            </a:r>
            <a:r>
              <a:rPr lang="en-IN" sz="1900" b="0"/>
              <a:t>FRP is a satellite intensity proxy, not burned area in hectares.</a:t>
            </a:r>
            <a:endParaRPr dirty="0"/>
          </a:p>
        </p:txBody>
      </p:sp>
      <p:sp>
        <p:nvSpPr>
          <p:cNvPr id="184" name="Google Shape;184;p9"/>
          <p:cNvSpPr txBox="1">
            <a:spLocks noGrp="1"/>
          </p:cNvSpPr>
          <p:nvPr>
            <p:ph type="sldNum" idx="12"/>
          </p:nvPr>
        </p:nvSpPr>
        <p:spPr>
          <a:xfrm>
            <a:off x="9273988" y="634720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7</a:t>
            </a:fld>
            <a:endParaRPr/>
          </a:p>
        </p:txBody>
      </p:sp>
      <p:sp>
        <p:nvSpPr>
          <p:cNvPr id="185" name="Google Shape;185;p9"/>
          <p:cNvSpPr txBox="1"/>
          <p:nvPr/>
        </p:nvSpPr>
        <p:spPr>
          <a:xfrm>
            <a:off x="2284362" y="0"/>
            <a:ext cx="8146571" cy="839401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1"/>
            </a:solidFill>
            <a:prstDash val="dash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4000" b="1">
                <a:solidFill>
                  <a:srgbClr val="C00000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Methodology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10"/>
          <p:cNvSpPr txBox="1">
            <a:spLocks noGrp="1"/>
          </p:cNvSpPr>
          <p:nvPr>
            <p:ph type="body" idx="1"/>
          </p:nvPr>
        </p:nvSpPr>
        <p:spPr>
          <a:xfrm>
            <a:off x="174811" y="1069220"/>
            <a:ext cx="11842377" cy="7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ct val="100000"/>
              <a:buChar char="•"/>
            </a:pPr>
            <a:r>
              <a:rPr lang="en-IN" sz="1600" b="1"/>
              <a:t>Fig. 2: System architecture - ML pipeline, ESP32 sensor unit and Streamlit dashboard</a:t>
            </a:r>
            <a:endParaRPr dirty="0"/>
          </a:p>
        </p:txBody>
      </p:sp>
      <p:sp>
        <p:nvSpPr>
          <p:cNvPr id="192" name="Google Shape;192;p10"/>
          <p:cNvSpPr txBox="1">
            <a:spLocks noGrp="1"/>
          </p:cNvSpPr>
          <p:nvPr>
            <p:ph type="sldNum" idx="12"/>
          </p:nvPr>
        </p:nvSpPr>
        <p:spPr>
          <a:xfrm>
            <a:off x="9273988" y="634720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8</a:t>
            </a:fld>
            <a:endParaRPr/>
          </a:p>
        </p:txBody>
      </p:sp>
      <p:sp>
        <p:nvSpPr>
          <p:cNvPr id="193" name="Google Shape;193;p10"/>
          <p:cNvSpPr txBox="1"/>
          <p:nvPr/>
        </p:nvSpPr>
        <p:spPr>
          <a:xfrm>
            <a:off x="2284362" y="0"/>
            <a:ext cx="8146571" cy="839401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1"/>
            </a:solidFill>
            <a:prstDash val="dash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4000" b="1">
                <a:solidFill>
                  <a:srgbClr val="C00000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Methodology</a:t>
            </a:r>
            <a:endParaRPr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AC560B1-E4F3-B0DD-98A9-FD43BC23C6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791" y="1572529"/>
            <a:ext cx="9143903" cy="477467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11"/>
          <p:cNvSpPr txBox="1">
            <a:spLocks noGrp="1"/>
          </p:cNvSpPr>
          <p:nvPr>
            <p:ph type="body" idx="1"/>
          </p:nvPr>
        </p:nvSpPr>
        <p:spPr>
          <a:xfrm>
            <a:off x="247650" y="1117600"/>
            <a:ext cx="3466511" cy="52296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ct val="100000"/>
              <a:buChar char="•"/>
            </a:pPr>
            <a:r>
              <a:rPr lang="en-IN" sz="1800" b="1" dirty="0"/>
              <a:t>Expected results: </a:t>
            </a:r>
            <a:endParaRPr dirty="0"/>
          </a:p>
          <a:p>
            <a:pPr marL="6858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IN" sz="1600" b="0" dirty="0"/>
              <a:t>Joined India fire + weather dataset.</a:t>
            </a:r>
            <a:endParaRPr dirty="0"/>
          </a:p>
          <a:p>
            <a:pPr marL="6858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IN" sz="1600" b="0" dirty="0"/>
              <a:t>Trained model with a reported MAE.</a:t>
            </a:r>
            <a:endParaRPr dirty="0"/>
          </a:p>
          <a:p>
            <a:pPr marL="6858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IN" sz="1600" b="0" dirty="0"/>
              <a:t>Working dashboard: map, sliders, predicted FRP/risk band.</a:t>
            </a:r>
            <a:endParaRPr dirty="0"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ct val="100000"/>
              <a:buChar char="•"/>
            </a:pPr>
            <a:r>
              <a:rPr lang="en-IN" sz="1800" b="1" dirty="0"/>
              <a:t>Potential impact: </a:t>
            </a:r>
            <a:endParaRPr dirty="0"/>
          </a:p>
          <a:p>
            <a:pPr marL="6858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IN" sz="1600" b="0" dirty="0"/>
              <a:t>Easy way to explore how weather relates to fire intensity.</a:t>
            </a:r>
            <a:endParaRPr dirty="0"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ct val="100000"/>
              <a:buChar char="•"/>
            </a:pPr>
            <a:r>
              <a:rPr lang="en-IN" sz="1800" b="1" dirty="0"/>
              <a:t>Future directions: </a:t>
            </a:r>
            <a:endParaRPr dirty="0"/>
          </a:p>
          <a:p>
            <a:pPr marL="6858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IN" sz="1600" b="0" dirty="0"/>
              <a:t>State filters, vegetation/terrain data, other models, real-time alerts.</a:t>
            </a:r>
            <a:endParaRPr dirty="0"/>
          </a:p>
        </p:txBody>
      </p:sp>
      <p:sp>
        <p:nvSpPr>
          <p:cNvPr id="200" name="Google Shape;200;p11"/>
          <p:cNvSpPr txBox="1">
            <a:spLocks noGrp="1"/>
          </p:cNvSpPr>
          <p:nvPr>
            <p:ph type="sldNum" idx="12"/>
          </p:nvPr>
        </p:nvSpPr>
        <p:spPr>
          <a:xfrm>
            <a:off x="9273988" y="634720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9</a:t>
            </a:fld>
            <a:endParaRPr/>
          </a:p>
        </p:txBody>
      </p:sp>
      <p:sp>
        <p:nvSpPr>
          <p:cNvPr id="201" name="Google Shape;201;p11"/>
          <p:cNvSpPr txBox="1"/>
          <p:nvPr/>
        </p:nvSpPr>
        <p:spPr>
          <a:xfrm>
            <a:off x="2284362" y="0"/>
            <a:ext cx="8146571" cy="839401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1"/>
            </a:solidFill>
            <a:prstDash val="dash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4000" b="1">
                <a:solidFill>
                  <a:srgbClr val="C00000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Proposed Outcomes</a:t>
            </a:r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DA96A48-914B-25BD-42A1-3867F47017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7934" y="947917"/>
            <a:ext cx="7779071" cy="4373401"/>
          </a:xfrm>
          <a:prstGeom prst="rect">
            <a:avLst/>
          </a:prstGeom>
        </p:spPr>
      </p:pic>
      <p:sp>
        <p:nvSpPr>
          <p:cNvPr id="202" name="TextBox 201"/>
          <p:cNvSpPr txBox="1"/>
          <p:nvPr/>
        </p:nvSpPr>
        <p:spPr>
          <a:xfrm>
            <a:off x="3617934" y="5360000"/>
            <a:ext cx="7779071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>
                <a:solidFill>
                  <a:srgbClr val="262626"/>
                </a:solidFill>
              </a:rPr>
              <a:t>Fig. 3: Dashboard layout. Left: weather sliders and live ESP32 panel. Centre: fire map. Right: predicted FRP, risk band and feature importance. Bottom: sample fire points with weather.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3"/>
          <p:cNvSpPr txBox="1">
            <a:spLocks noGrp="1"/>
          </p:cNvSpPr>
          <p:nvPr>
            <p:ph type="body" idx="1"/>
          </p:nvPr>
        </p:nvSpPr>
        <p:spPr>
          <a:xfrm>
            <a:off x="174811" y="1117600"/>
            <a:ext cx="11842377" cy="52296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ct val="100000"/>
              <a:buChar char="•"/>
            </a:pPr>
            <a:r>
              <a:rPr lang="en-IN" sz="2200" b="1"/>
              <a:t>Summary: </a:t>
            </a:r>
            <a:r>
              <a:rPr lang="en-IN" sz="2200" b="0"/>
              <a:t>We link satellite fire detections with weather to estimate fire intensity and present it in an interactive dashboard.</a:t>
            </a:r>
            <a:endParaRPr dirty="0"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ct val="100000"/>
              <a:buChar char="•"/>
            </a:pPr>
            <a:r>
              <a:rPr lang="en-IN" sz="2200" b="1"/>
              <a:t>Final thoughts: </a:t>
            </a:r>
            <a:r>
              <a:rPr lang="en-IN" sz="2200" b="0"/>
              <a:t>Open data and simple ML make fire patterns easier to understand.</a:t>
            </a:r>
            <a:endParaRPr dirty="0"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ct val="100000"/>
              <a:buChar char="•"/>
            </a:pPr>
            <a:r>
              <a:rPr lang="en-IN" sz="2200" b="1"/>
              <a:t>Next steps: </a:t>
            </a:r>
            <a:r>
              <a:rPr lang="en-IN" sz="2200" b="0"/>
              <a:t>Complete the weather join, model and dashboard, then integrate the ESP32 sensor unit and draft a conference paper.</a:t>
            </a:r>
            <a:endParaRPr dirty="0"/>
          </a:p>
        </p:txBody>
      </p:sp>
      <p:sp>
        <p:nvSpPr>
          <p:cNvPr id="217" name="Google Shape;217;p13"/>
          <p:cNvSpPr txBox="1">
            <a:spLocks noGrp="1"/>
          </p:cNvSpPr>
          <p:nvPr>
            <p:ph type="sldNum" idx="12"/>
          </p:nvPr>
        </p:nvSpPr>
        <p:spPr>
          <a:xfrm>
            <a:off x="9273988" y="634720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10</a:t>
            </a:fld>
            <a:endParaRPr/>
          </a:p>
        </p:txBody>
      </p:sp>
      <p:sp>
        <p:nvSpPr>
          <p:cNvPr id="218" name="Google Shape;218;p13"/>
          <p:cNvSpPr txBox="1"/>
          <p:nvPr/>
        </p:nvSpPr>
        <p:spPr>
          <a:xfrm>
            <a:off x="2284362" y="145670"/>
            <a:ext cx="8146571" cy="839401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1"/>
            </a:solidFill>
            <a:prstDash val="dash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4000" b="1">
                <a:solidFill>
                  <a:srgbClr val="C00000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Conclusion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14"/>
          <p:cNvSpPr txBox="1">
            <a:spLocks noGrp="1"/>
          </p:cNvSpPr>
          <p:nvPr>
            <p:ph type="body" idx="1"/>
          </p:nvPr>
        </p:nvSpPr>
        <p:spPr>
          <a:xfrm>
            <a:off x="389467" y="1117600"/>
            <a:ext cx="11192933" cy="52296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ct val="100000"/>
              <a:buChar char="•"/>
            </a:pPr>
            <a:r>
              <a:rPr lang="en-IN" sz="1500" b="0"/>
              <a:t>Breiman, L. (2001). Random forests. Machine Learning, 45(1), 5-32.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ct val="100000"/>
              <a:buChar char="•"/>
            </a:pPr>
            <a:r>
              <a:rPr lang="en-IN" sz="1500" b="0"/>
              <a:t>Giglio, L., Schroeder, W., &amp; Justice, C. O. (2016). The collection 6 MODIS active fire detection algorithm and fire products. Remote Sensing of Environment, 178, 31-41.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ct val="100000"/>
              <a:buChar char="•"/>
            </a:pPr>
            <a:r>
              <a:rPr lang="en-IN" sz="1500" b="0"/>
              <a:t>Jain, P., et al. (2020). A review of machine learning applications in wildfire science and management. Environmental Reviews, 28(4), 478-505.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ct val="100000"/>
              <a:buChar char="•"/>
            </a:pPr>
            <a:r>
              <a:rPr lang="en-IN" sz="1500" b="0"/>
              <a:t>Schroeder, W., et al. (2014). The new VIIRS 375 m active fire detection data product. Remote Sensing of Environment, 143, 85-96.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ct val="100000"/>
              <a:buChar char="•"/>
            </a:pPr>
            <a:r>
              <a:rPr lang="en-IN" sz="1500" b="0"/>
              <a:t>Wooster, M. J., et al. (2005). Retrieval of biomass combustion rates and totals from fire radiative power observations. Journal of Geophysical Research, 110, D24311.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ct val="100000"/>
              <a:buChar char="•"/>
            </a:pPr>
            <a:r>
              <a:rPr lang="en-IN" sz="1500" b="0"/>
              <a:t>NASA FIRMS. https://firms.modaps.eosdis.nasa.gov/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ct val="100000"/>
              <a:buChar char="•"/>
            </a:pPr>
            <a:r>
              <a:rPr lang="en-IN" sz="1500" b="0"/>
              <a:t>Open-Meteo Historical Weather API. https://open-meteo.com/</a:t>
            </a:r>
            <a:endParaRPr/>
          </a:p>
        </p:txBody>
      </p:sp>
      <p:sp>
        <p:nvSpPr>
          <p:cNvPr id="226" name="Google Shape;226;p14"/>
          <p:cNvSpPr txBox="1">
            <a:spLocks noGrp="1"/>
          </p:cNvSpPr>
          <p:nvPr>
            <p:ph type="sldNum" idx="12"/>
          </p:nvPr>
        </p:nvSpPr>
        <p:spPr>
          <a:xfrm>
            <a:off x="9273988" y="634720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11</a:t>
            </a:fld>
            <a:endParaRPr/>
          </a:p>
        </p:txBody>
      </p:sp>
      <p:sp>
        <p:nvSpPr>
          <p:cNvPr id="227" name="Google Shape;227;p14"/>
          <p:cNvSpPr txBox="1"/>
          <p:nvPr/>
        </p:nvSpPr>
        <p:spPr>
          <a:xfrm>
            <a:off x="2284362" y="145670"/>
            <a:ext cx="8146571" cy="839401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1"/>
            </a:solidFill>
            <a:prstDash val="dash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4000" b="1">
                <a:solidFill>
                  <a:srgbClr val="C00000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References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15"/>
          <p:cNvSpPr txBox="1">
            <a:spLocks noGrp="1"/>
          </p:cNvSpPr>
          <p:nvPr>
            <p:ph type="body" idx="1"/>
          </p:nvPr>
        </p:nvSpPr>
        <p:spPr>
          <a:xfrm>
            <a:off x="174813" y="1327530"/>
            <a:ext cx="11842377" cy="55304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ct val="100000"/>
              <a:buChar char="•"/>
            </a:pPr>
            <a:r>
              <a:rPr lang="en-IN" sz="2000" b="1"/>
              <a:t>Conference publication: </a:t>
            </a:r>
            <a:r>
              <a:rPr lang="en-IN" sz="2000" b="0"/>
              <a:t>Paper in IEEE format covering the pipeline, model results and dashboard.</a:t>
            </a:r>
            <a:endParaRPr dirty="0"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ct val="100000"/>
              <a:buChar char="•"/>
            </a:pPr>
            <a:r>
              <a:rPr lang="en-IN" sz="2000" b="1"/>
              <a:t>Research proposal: </a:t>
            </a:r>
            <a:r>
              <a:rPr lang="en-IN" sz="2000" b="0"/>
              <a:t>Extend to state-level analysis with more data layers (vegetation, terrain).</a:t>
            </a:r>
            <a:endParaRPr dirty="0"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ct val="100000"/>
              <a:buChar char="•"/>
            </a:pPr>
            <a:r>
              <a:rPr lang="en-IN" sz="2000" b="1"/>
              <a:t>Journal publication: </a:t>
            </a:r>
            <a:r>
              <a:rPr lang="en-IN" sz="2000" b="0"/>
              <a:t>After further validation and comparison with other models.</a:t>
            </a:r>
            <a:endParaRPr dirty="0"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ct val="100000"/>
              <a:buChar char="•"/>
            </a:pPr>
            <a:r>
              <a:rPr lang="en-IN" sz="2000" b="1"/>
              <a:t>Patent: </a:t>
            </a:r>
            <a:r>
              <a:rPr lang="en-IN" sz="2000" b="0"/>
              <a:t>Not planned; reconsider only if the sensor-to-ML integration proves novel.</a:t>
            </a:r>
            <a:endParaRPr dirty="0"/>
          </a:p>
        </p:txBody>
      </p:sp>
      <p:sp>
        <p:nvSpPr>
          <p:cNvPr id="234" name="Google Shape;234;p15"/>
          <p:cNvSpPr txBox="1">
            <a:spLocks noGrp="1"/>
          </p:cNvSpPr>
          <p:nvPr>
            <p:ph type="dt" idx="10"/>
          </p:nvPr>
        </p:nvSpPr>
        <p:spPr>
          <a:xfrm>
            <a:off x="174812" y="634720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EL Phase-I</a:t>
            </a:r>
            <a:endParaRPr/>
          </a:p>
        </p:txBody>
      </p:sp>
      <p:sp>
        <p:nvSpPr>
          <p:cNvPr id="235" name="Google Shape;235;p15"/>
          <p:cNvSpPr txBox="1">
            <a:spLocks noGrp="1"/>
          </p:cNvSpPr>
          <p:nvPr>
            <p:ph type="sldNum" idx="12"/>
          </p:nvPr>
        </p:nvSpPr>
        <p:spPr>
          <a:xfrm>
            <a:off x="9273988" y="634720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12</a:t>
            </a:fld>
            <a:endParaRPr/>
          </a:p>
        </p:txBody>
      </p:sp>
      <p:sp>
        <p:nvSpPr>
          <p:cNvPr id="236" name="Google Shape;236;p15"/>
          <p:cNvSpPr txBox="1"/>
          <p:nvPr/>
        </p:nvSpPr>
        <p:spPr>
          <a:xfrm>
            <a:off x="2235201" y="145670"/>
            <a:ext cx="8974666" cy="118186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1"/>
            </a:solidFill>
            <a:prstDash val="dash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3600" b="1">
                <a:solidFill>
                  <a:srgbClr val="C00000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Expected Outcome by the end of First Year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16"/>
          <p:cNvSpPr txBox="1">
            <a:spLocks noGrp="1"/>
          </p:cNvSpPr>
          <p:nvPr>
            <p:ph type="sldNum" idx="12"/>
          </p:nvPr>
        </p:nvSpPr>
        <p:spPr>
          <a:xfrm>
            <a:off x="9273988" y="634720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13</a:t>
            </a:fld>
            <a:endParaRPr/>
          </a:p>
        </p:txBody>
      </p:sp>
      <p:pic>
        <p:nvPicPr>
          <p:cNvPr id="243" name="Google Shape;243;p1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51096" y="1605964"/>
            <a:ext cx="5889812" cy="36460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25</TotalTime>
  <Words>1038</Words>
  <Application>Microsoft Office PowerPoint</Application>
  <PresentationFormat>Widescreen</PresentationFormat>
  <Paragraphs>98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Bookman Old Style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Samarth BN</dc:creator>
  <cp:lastModifiedBy>Samarth BN</cp:lastModifiedBy>
  <cp:revision>2</cp:revision>
  <dcterms:modified xsi:type="dcterms:W3CDTF">2026-10-30T05:41:24Z</dcterms:modified>
</cp:coreProperties>
</file>